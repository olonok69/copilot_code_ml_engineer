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Segoe UI"/>
              </a:rPr>
              <a:t>COURSE / WORKSHOP · DEVELOPER TOOLING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6000" b="1">
                <a:solidFill>
                  <a:srgbClr val="E8EAED"/>
                </a:solidFill>
                <a:latin typeface="Segoe UI"/>
              </a:rPr>
              <a:t>GitHub Copilot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2600" b="0">
                <a:solidFill>
                  <a:srgbClr val="9AA4B2"/>
                </a:solidFill>
                <a:latin typeface="Segoe UI"/>
              </a:rPr>
              <a:t>the same methodology, </a:t>
            </a:r>
            <a:r>
              <a:rPr sz="2600" b="1">
                <a:solidFill>
                  <a:srgbClr val="E8EAED"/>
                </a:solidFill>
                <a:latin typeface="Segoe UI"/>
              </a:rPr>
              <a:t>five surfaces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932688" y="3840480"/>
            <a:ext cx="1280160" cy="457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105156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D97757"/>
                </a:solidFill>
                <a:latin typeface="Segoe UI"/>
              </a:rPr>
              <a:t>SESSION 1 — </a:t>
            </a:r>
            <a:r>
              <a:rPr sz="1350" b="0">
                <a:solidFill>
                  <a:srgbClr val="9AA4B2"/>
                </a:solidFill>
                <a:latin typeface="Segoe UI"/>
              </a:rPr>
              <a:t>Copilot: surfaces · CLI &amp; billing · instructions · permissions · context &amp; caching · MCP · skills · agents · hooks · automation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7AA2C7"/>
                </a:solidFill>
                <a:latin typeface="Segoe UI"/>
              </a:rPr>
              <a:t>SESSION 2 — </a:t>
            </a:r>
            <a:r>
              <a:rPr sz="1350" b="0">
                <a:solidFill>
                  <a:srgbClr val="9AA4B2"/>
                </a:solidFill>
                <a:latin typeface="Segoe UI"/>
              </a:rPr>
              <a:t>The methodology (tool-agnostic): gated flow · CodeGraph / Serena / GSD · transfer from Claude Code · ops (machine-sync + S3) · ticket graph (graphify)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6707E"/>
                </a:solidFill>
                <a:latin typeface="Segoe UI"/>
              </a:rPr>
              <a:t>Course volume 3 (after Claude Code and Cursor; Pi in parallel). Copilot facts verified against docs.github.com and code.visualstudio.com on 2026-10-17.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One course, two sessions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GitHub Copilot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5349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Segoe UI"/>
              </a:rPr>
              <a:t>SESSION 1 · GitHub Copilot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194560"/>
            <a:ext cx="5349240" cy="283464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212848"/>
            <a:ext cx="50292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AED"/>
                </a:solidFill>
                <a:latin typeface="Segoe UI"/>
              </a:rPr>
              <a:t>§00  Surfaces map + feature matrix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532888"/>
            <a:ext cx="5349240" cy="283464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551176"/>
            <a:ext cx="50292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AED"/>
                </a:solidFill>
                <a:latin typeface="Segoe UI"/>
              </a:rPr>
              <a:t>§01  Install · auth · copilot -p · models · billing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871216"/>
            <a:ext cx="5349240" cy="283464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889504"/>
            <a:ext cx="50292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AED"/>
                </a:solidFill>
                <a:latin typeface="Segoe UI"/>
              </a:rPr>
              <a:t>§02  Memory &amp; instructions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209544"/>
            <a:ext cx="5349240" cy="283464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227832"/>
            <a:ext cx="50292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AED"/>
                </a:solidFill>
                <a:latin typeface="Segoe UI"/>
              </a:rPr>
              <a:t>§03  Permissions, trust, sandbox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547872"/>
            <a:ext cx="5349240" cy="283464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566160"/>
            <a:ext cx="50292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AED"/>
                </a:solidFill>
                <a:latin typeface="Segoe UI"/>
              </a:rPr>
              <a:t>§04  Sessions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886200"/>
            <a:ext cx="5349240" cy="283464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904488"/>
            <a:ext cx="50292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AED"/>
                </a:solidFill>
                <a:latin typeface="Segoe UI"/>
              </a:rPr>
              <a:t>§05  Context window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224528"/>
            <a:ext cx="5349240" cy="283464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242816"/>
            <a:ext cx="50292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AED"/>
                </a:solidFill>
                <a:latin typeface="Segoe UI"/>
              </a:rPr>
              <a:t>§06  Prompt caching (honest answer)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562856"/>
            <a:ext cx="5349240" cy="283464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4581144"/>
            <a:ext cx="50292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AED"/>
                </a:solidFill>
                <a:latin typeface="Segoe UI"/>
              </a:rPr>
              <a:t>§07  MCP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901184"/>
            <a:ext cx="5349240" cy="283464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919472"/>
            <a:ext cx="50292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AED"/>
                </a:solidFill>
                <a:latin typeface="Segoe UI"/>
              </a:rPr>
              <a:t>§08  Skills &amp; plugins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5239512"/>
            <a:ext cx="5349240" cy="283464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5257800"/>
            <a:ext cx="50292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AED"/>
                </a:solidFill>
                <a:latin typeface="Segoe UI"/>
              </a:rPr>
              <a:t>§09  Custom agents &amp; subagents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5577840"/>
            <a:ext cx="5349240" cy="283464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5596128"/>
            <a:ext cx="50292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AED"/>
                </a:solidFill>
                <a:latin typeface="Segoe UI"/>
              </a:rPr>
              <a:t>§10  Hooks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5916168"/>
            <a:ext cx="5349240" cy="283464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934456"/>
            <a:ext cx="50292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AED"/>
                </a:solidFill>
                <a:latin typeface="Segoe UI"/>
              </a:rPr>
              <a:t>§11  Automation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1783080"/>
            <a:ext cx="5349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AA2C7"/>
                </a:solidFill>
                <a:latin typeface="Segoe UI"/>
              </a:rPr>
              <a:t>SESSION 2 · Methodology + ticket graph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2194560"/>
            <a:ext cx="5349240" cy="283464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2212848"/>
            <a:ext cx="50292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AED"/>
                </a:solidFill>
                <a:latin typeface="Segoe UI"/>
              </a:rPr>
              <a:t>§12  The 11-stage flow + five-check gate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2532888"/>
            <a:ext cx="5349240" cy="283464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2551176"/>
            <a:ext cx="50292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AED"/>
                </a:solidFill>
                <a:latin typeface="Segoe UI"/>
              </a:rPr>
              <a:t>§13  Tool prevalence: CodeGraph · Serena · GSD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20" y="2871216"/>
            <a:ext cx="5349240" cy="283464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46520" y="2889504"/>
            <a:ext cx="50292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AED"/>
                </a:solidFill>
                <a:latin typeface="Segoe UI"/>
              </a:rPr>
              <a:t>§14–15  Claude Code transfer · machine sync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0" y="3209544"/>
            <a:ext cx="5349240" cy="283464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46520" y="3227832"/>
            <a:ext cx="50292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AED"/>
                </a:solidFill>
                <a:latin typeface="Segoe UI"/>
              </a:rPr>
              <a:t>§16  Ticket graph: graphify · kg / kg-refresh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17920" y="3547872"/>
            <a:ext cx="5349240" cy="283464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46520" y="3566160"/>
            <a:ext cx="50292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AED"/>
                </a:solidFill>
                <a:latin typeface="Segoe UI"/>
              </a:rPr>
              <a:t>Field test  A real workday + one ticket replay, measured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17920" y="3886200"/>
            <a:ext cx="5349240" cy="283464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46520" y="3904488"/>
            <a:ext cx="50292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AED"/>
                </a:solidFill>
                <a:latin typeface="Segoe UI"/>
              </a:rPr>
              <a:t>Appendix  Claude Code → Cursor → Copilot · 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Segoe UI"/>
              </a:rPr>
              <a:t>SESSION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E8EAED"/>
                </a:solidFill>
                <a:latin typeface="Segoe UI"/>
              </a:rPr>
              <a:t>GitHub Copilot</a:t>
            </a:r>
          </a:p>
        </p:txBody>
      </p:sp>
      <p:sp>
        <p:nvSpPr>
          <p:cNvPr id="7" name="Rectangle 6"/>
          <p:cNvSpPr/>
          <p:nvPr/>
        </p:nvSpPr>
        <p:spPr>
          <a:xfrm>
            <a:off x="932688" y="2606040"/>
            <a:ext cx="1280160" cy="457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8892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9AA4B2"/>
                </a:solidFill>
                <a:latin typeface="Segoe UI"/>
              </a:rPr>
              <a:t>One brand, five surfaces, two VS Code engines — know which one you are talking to.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520440"/>
            <a:ext cx="5212080" cy="47548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566160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ED"/>
                </a:solidFill>
                <a:latin typeface="Segoe UI"/>
              </a:rPr>
              <a:t>§00 · Surfaces map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3520440"/>
            <a:ext cx="5212080" cy="47548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3566160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ED"/>
                </a:solidFill>
                <a:latin typeface="Segoe UI"/>
              </a:rPr>
              <a:t>§01 · Install, auth, models, billing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087368"/>
            <a:ext cx="5212080" cy="47548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4133088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ED"/>
                </a:solidFill>
                <a:latin typeface="Segoe UI"/>
              </a:rPr>
              <a:t>§02–§03 · Instructions, permissions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4087368"/>
            <a:ext cx="5212080" cy="47548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4133088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ED"/>
                </a:solidFill>
                <a:latin typeface="Segoe UI"/>
              </a:rPr>
              <a:t>§04–§06 · Sessions, context, caching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654296"/>
            <a:ext cx="5212080" cy="47548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4700016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ED"/>
                </a:solidFill>
                <a:latin typeface="Segoe UI"/>
              </a:rPr>
              <a:t>§07–§09 · MCP, skills, agents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4654296"/>
            <a:ext cx="5212080" cy="47548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4700016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ED"/>
                </a:solidFill>
                <a:latin typeface="Segoe UI"/>
              </a:rPr>
              <a:t>§10–§11 · Hooks, automation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SESSION 1 · §00 · SURFACES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“Copilot” is five different surfaces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GitHub Copilot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4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5335524" cy="107899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1248" y="2029968"/>
            <a:ext cx="4572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2048256"/>
            <a:ext cx="457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›_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1975104"/>
            <a:ext cx="43754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Copilot CLI — copilot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286000"/>
            <a:ext cx="4375404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Terminal agent, npm @github/copilot, GA 2026-02-25. NOT the retired `gh copilot` extension.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1636" y="1828800"/>
            <a:ext cx="5335524" cy="107899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32804" y="2029968"/>
            <a:ext cx="4572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2804" y="2048256"/>
            <a:ext cx="457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VS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4596" y="1975104"/>
            <a:ext cx="43754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VS Code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4596" y="2286000"/>
            <a:ext cx="4375404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Agent harnesses: Copilot (same runtime as the CLI), Local (classic agent mode), plus Claude, Codex and a Cloud target.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108960"/>
            <a:ext cx="5335524" cy="107899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1248" y="3310128"/>
            <a:ext cx="4572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3328416"/>
            <a:ext cx="457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JB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255264"/>
            <a:ext cx="43754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JetBrains agent mode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566160"/>
            <a:ext cx="4375404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Agent mode + MCP supported. Skills, custom agents, instructions, prompt files: Preview.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31636" y="3108960"/>
            <a:ext cx="5335524" cy="107899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32804" y="3310128"/>
            <a:ext cx="4572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32804" y="3328416"/>
            <a:ext cx="457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54596" y="3255264"/>
            <a:ext cx="43754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Copilot cloud agent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4596" y="3566160"/>
            <a:ext cx="4375404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Formerly “coding agent”. Issue / prompt / API → ephemeral Actions sandbox → draft PR.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389120"/>
            <a:ext cx="5335524" cy="107899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41248" y="4590288"/>
            <a:ext cx="4572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" y="4608576"/>
            <a:ext cx="457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3040" y="4535424"/>
            <a:ext cx="43754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Copilot code review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4846320"/>
            <a:ext cx="4375404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PR reviewer on github.com and in IDEs; can be requested automatically via rulesets.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31636" y="4389120"/>
            <a:ext cx="5335524" cy="107899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32804" y="4590288"/>
            <a:ext cx="4572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32804" y="4608576"/>
            <a:ext cx="457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54596" y="4535424"/>
            <a:ext cx="43754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Also: github.com + app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54596" y="4846320"/>
            <a:ext cx="4375404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Chat, Agents page (github.com/copilot/agents), Spaces; desktop Copilot app (`copilot app`).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5806440"/>
            <a:ext cx="10927080" cy="475488"/>
          </a:xfrm>
          <a:prstGeom prst="rect">
            <a:avLst/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0080" y="5806440"/>
            <a:ext cx="82296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Before any “Copilot can / can't” claim, ask: which surface, and which harness?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SESSION 1 · §00 · SURFACES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VS Code has two Copilot engines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GitHub Copilot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178308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AA2C7"/>
                </a:solidFill>
                <a:latin typeface="Segoe UI"/>
              </a:rPr>
              <a:t>COPILOT HARNESS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178308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LOCAL HARNESS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194560"/>
            <a:ext cx="10927080" cy="47548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240280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E8EAED"/>
                </a:solidFill>
                <a:latin typeface="Segoe UI"/>
              </a:rPr>
              <a:t>Runtime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240280"/>
            <a:ext cx="33832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Copilot SDK — same as the CLI (Agent Host)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240280"/>
            <a:ext cx="33832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Classic agent mode (extension host)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743200"/>
            <a:ext cx="10927080" cy="47548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2788920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E8EAED"/>
                </a:solidFill>
                <a:latin typeface="Segoe UI"/>
              </a:rPr>
              <a:t>Config shared with CLI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2788920"/>
            <a:ext cx="33832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~/.copilot, .mcp.json, skills, agents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2788920"/>
            <a:ext cx="33832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Own chat.* settings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291840"/>
            <a:ext cx="10927080" cy="47548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337560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E8EAED"/>
                </a:solidFill>
                <a:latin typeface="Segoe UI"/>
              </a:rPr>
              <a:t>Hooks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3337560"/>
            <a:ext cx="33832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CLI schema: .github/hooks, camelCase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3337560"/>
            <a:ext cx="33832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Own schema: PascalCase, hookSpecificOutput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840480"/>
            <a:ext cx="10927080" cy="47548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3886200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E8EAED"/>
                </a:solidFill>
                <a:latin typeface="Segoe UI"/>
              </a:rPr>
              <a:t>MCP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3886200"/>
            <a:ext cx="33832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.mcp.json (mcpServers) + forwarded .vscode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3886200"/>
            <a:ext cx="33832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.vscode/mcp.json (servers + inputs)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4389120"/>
            <a:ext cx="10927080" cy="47548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4434840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E8EAED"/>
                </a:solidFill>
                <a:latin typeface="Segoe UI"/>
              </a:rPr>
              <a:t>Prompt files / handoffs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0" y="4434840"/>
            <a:ext cx="33832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✗  (convert to skills)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4434840"/>
            <a:ext cx="33832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✓  only here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4937760"/>
            <a:ext cx="10927080" cy="47548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983480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E8EAED"/>
                </a:solidFill>
                <a:latin typeface="Segoe UI"/>
              </a:rPr>
              <a:t>Nested AGENTS.md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06240" y="4983480"/>
            <a:ext cx="33832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root + cwd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0" y="4983480"/>
            <a:ext cx="33832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chat.useNestedAgentsMdFiles (off)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5806440"/>
            <a:ext cx="10927080" cy="475488"/>
          </a:xfrm>
          <a:prstGeom prst="rect">
            <a:avLst/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0080" y="5806440"/>
            <a:ext cx="82296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Pick the harness in the Session Target control — then read the docs for THAT harness.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SESSION 1 · §00 · SURFACES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Feature × surface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GitHub Copilot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6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2889504" cy="384048"/>
          </a:xfrm>
          <a:prstGeom prst="rect">
            <a:avLst/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801368"/>
            <a:ext cx="27432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7AA2C7"/>
                </a:solidFill>
                <a:latin typeface="Segoe UI"/>
              </a:rPr>
              <a:t>Feature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66160" y="1783080"/>
            <a:ext cx="1289304" cy="384048"/>
          </a:xfrm>
          <a:prstGeom prst="rect">
            <a:avLst/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9312" y="1801368"/>
            <a:ext cx="11430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D97757"/>
                </a:solidFill>
                <a:latin typeface="Segoe UI"/>
              </a:rPr>
              <a:t>CLI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92040" y="1783080"/>
            <a:ext cx="1289304" cy="384048"/>
          </a:xfrm>
          <a:prstGeom prst="rect">
            <a:avLst/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65192" y="1801368"/>
            <a:ext cx="11430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D97757"/>
                </a:solidFill>
                <a:latin typeface="Segoe UI"/>
              </a:rPr>
              <a:t>VS Code Copilot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783080"/>
            <a:ext cx="1289304" cy="384048"/>
          </a:xfrm>
          <a:prstGeom prst="rect">
            <a:avLst/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91072" y="1801368"/>
            <a:ext cx="11430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D97757"/>
                </a:solidFill>
                <a:latin typeface="Segoe UI"/>
              </a:rPr>
              <a:t>VS Code Local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43800" y="1783080"/>
            <a:ext cx="1289304" cy="384048"/>
          </a:xfrm>
          <a:prstGeom prst="rect">
            <a:avLst/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16952" y="1801368"/>
            <a:ext cx="11430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D97757"/>
                </a:solidFill>
                <a:latin typeface="Segoe UI"/>
              </a:rPr>
              <a:t>JetBrains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69680" y="1783080"/>
            <a:ext cx="1289304" cy="384048"/>
          </a:xfrm>
          <a:prstGeom prst="rect">
            <a:avLst/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42832" y="1801368"/>
            <a:ext cx="11430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D97757"/>
                </a:solidFill>
                <a:latin typeface="Segoe UI"/>
              </a:rPr>
              <a:t>Cloud agent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195560" y="1783080"/>
            <a:ext cx="1289304" cy="384048"/>
          </a:xfrm>
          <a:prstGeom prst="rect">
            <a:avLst/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68712" y="1801368"/>
            <a:ext cx="11430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D97757"/>
                </a:solidFill>
                <a:latin typeface="Segoe UI"/>
              </a:rPr>
              <a:t>Code review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2203704"/>
            <a:ext cx="2889504" cy="38404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2221992"/>
            <a:ext cx="27432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E8EAED"/>
                </a:solidFill>
                <a:latin typeface="Segoe UI"/>
              </a:rPr>
              <a:t>AGENTS.md / copilot-instructions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66160" y="2203704"/>
            <a:ext cx="1289304" cy="38404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39312" y="2221992"/>
            <a:ext cx="11430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8CC28C"/>
                </a:solidFill>
                <a:latin typeface="Segoe UI"/>
              </a:rPr>
              <a:t>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92040" y="2203704"/>
            <a:ext cx="1289304" cy="38404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65192" y="2221992"/>
            <a:ext cx="11430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8CC28C"/>
                </a:solidFill>
                <a:latin typeface="Segoe UI"/>
              </a:rPr>
              <a:t>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2203704"/>
            <a:ext cx="1289304" cy="38404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91072" y="2221992"/>
            <a:ext cx="11430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8CC28C"/>
                </a:solidFill>
                <a:latin typeface="Segoe UI"/>
              </a:rPr>
              <a:t>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43800" y="2203704"/>
            <a:ext cx="1289304" cy="38404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16952" y="2221992"/>
            <a:ext cx="11430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7AA2C7"/>
                </a:solidFill>
                <a:latin typeface="Segoe UI"/>
              </a:rPr>
              <a:t>~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69680" y="2203704"/>
            <a:ext cx="1289304" cy="38404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42832" y="2221992"/>
            <a:ext cx="11430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8CC28C"/>
                </a:solidFill>
                <a:latin typeface="Segoe UI"/>
              </a:rPr>
              <a:t>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195560" y="2203704"/>
            <a:ext cx="1289304" cy="38404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268712" y="2221992"/>
            <a:ext cx="11430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8CC28C"/>
                </a:solidFill>
                <a:latin typeface="Segoe UI"/>
              </a:rPr>
              <a:t>✓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2624328"/>
            <a:ext cx="2889504" cy="38404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3232" y="2642616"/>
            <a:ext cx="27432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E8EAED"/>
                </a:solidFill>
                <a:latin typeface="Segoe UI"/>
              </a:rPr>
              <a:t>.instructions.md (applyTo)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66160" y="2624328"/>
            <a:ext cx="1289304" cy="38404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39312" y="2642616"/>
            <a:ext cx="11430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8CC28C"/>
                </a:solidFill>
                <a:latin typeface="Segoe UI"/>
              </a:rPr>
              <a:t>✓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892040" y="2624328"/>
            <a:ext cx="1289304" cy="38404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965192" y="2642616"/>
            <a:ext cx="11430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8CC28C"/>
                </a:solidFill>
                <a:latin typeface="Segoe UI"/>
              </a:rPr>
              <a:t>✓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17920" y="2624328"/>
            <a:ext cx="1289304" cy="38404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91072" y="2642616"/>
            <a:ext cx="11430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8CC28C"/>
                </a:solidFill>
                <a:latin typeface="Segoe UI"/>
              </a:rPr>
              <a:t>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543800" y="2624328"/>
            <a:ext cx="1289304" cy="38404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616952" y="2642616"/>
            <a:ext cx="11430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8CC28C"/>
                </a:solidFill>
                <a:latin typeface="Segoe UI"/>
              </a:rPr>
              <a:t>✓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869680" y="2624328"/>
            <a:ext cx="1289304" cy="38404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942832" y="2642616"/>
            <a:ext cx="11430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8CC28C"/>
                </a:solidFill>
                <a:latin typeface="Segoe UI"/>
              </a:rPr>
              <a:t>✓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195560" y="2624328"/>
            <a:ext cx="1289304" cy="38404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268712" y="2642616"/>
            <a:ext cx="11430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8CC28C"/>
                </a:solidFill>
                <a:latin typeface="Segoe UI"/>
              </a:rPr>
              <a:t>✓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0080" y="3044952"/>
            <a:ext cx="2889504" cy="38404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3232" y="3063240"/>
            <a:ext cx="27432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E8EAED"/>
                </a:solidFill>
                <a:latin typeface="Segoe UI"/>
              </a:rPr>
              <a:t>Prompt files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566160" y="3044952"/>
            <a:ext cx="1289304" cy="38404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39312" y="3063240"/>
            <a:ext cx="11430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Segoe UI"/>
              </a:rPr>
              <a:t>✗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892040" y="3044952"/>
            <a:ext cx="1289304" cy="38404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965192" y="3063240"/>
            <a:ext cx="11430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Segoe UI"/>
              </a:rPr>
              <a:t>✗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217920" y="3044952"/>
            <a:ext cx="1289304" cy="38404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291072" y="3063240"/>
            <a:ext cx="11430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8CC28C"/>
                </a:solidFill>
                <a:latin typeface="Segoe UI"/>
              </a:rPr>
              <a:t>✓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543800" y="3044952"/>
            <a:ext cx="1289304" cy="38404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616952" y="3063240"/>
            <a:ext cx="11430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7AA2C7"/>
                </a:solidFill>
                <a:latin typeface="Segoe UI"/>
              </a:rPr>
              <a:t>~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869680" y="3044952"/>
            <a:ext cx="1289304" cy="38404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942832" y="3063240"/>
            <a:ext cx="11430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Segoe UI"/>
              </a:rPr>
              <a:t>✗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195560" y="3044952"/>
            <a:ext cx="1289304" cy="38404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268712" y="3063240"/>
            <a:ext cx="11430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Segoe UI"/>
              </a:rPr>
              <a:t>✗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0080" y="3465576"/>
            <a:ext cx="2889504" cy="38404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13232" y="3483864"/>
            <a:ext cx="27432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E8EAED"/>
                </a:solidFill>
                <a:latin typeface="Segoe UI"/>
              </a:rPr>
              <a:t>Skills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566160" y="3465576"/>
            <a:ext cx="1289304" cy="38404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639312" y="3483864"/>
            <a:ext cx="11430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8CC28C"/>
                </a:solidFill>
                <a:latin typeface="Segoe UI"/>
              </a:rPr>
              <a:t>✓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892040" y="3465576"/>
            <a:ext cx="1289304" cy="38404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965192" y="3483864"/>
            <a:ext cx="11430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8CC28C"/>
                </a:solidFill>
                <a:latin typeface="Segoe UI"/>
              </a:rPr>
              <a:t>✓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217920" y="3465576"/>
            <a:ext cx="1289304" cy="38404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291072" y="3483864"/>
            <a:ext cx="11430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8CC28C"/>
                </a:solidFill>
                <a:latin typeface="Segoe UI"/>
              </a:rPr>
              <a:t>✓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543800" y="3465576"/>
            <a:ext cx="1289304" cy="38404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616952" y="3483864"/>
            <a:ext cx="11430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7AA2C7"/>
                </a:solidFill>
                <a:latin typeface="Segoe UI"/>
              </a:rPr>
              <a:t>~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869680" y="3465576"/>
            <a:ext cx="1289304" cy="38404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942832" y="3483864"/>
            <a:ext cx="11430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8CC28C"/>
                </a:solidFill>
                <a:latin typeface="Segoe UI"/>
              </a:rPr>
              <a:t>✓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195560" y="3465576"/>
            <a:ext cx="1289304" cy="38404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0268712" y="3483864"/>
            <a:ext cx="11430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8CC28C"/>
                </a:solidFill>
                <a:latin typeface="Segoe UI"/>
              </a:rPr>
              <a:t>✓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40080" y="3886200"/>
            <a:ext cx="2889504" cy="38404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13232" y="3904488"/>
            <a:ext cx="27432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E8EAED"/>
                </a:solidFill>
                <a:latin typeface="Segoe UI"/>
              </a:rPr>
              <a:t>Custom agents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566160" y="3886200"/>
            <a:ext cx="1289304" cy="38404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639312" y="3904488"/>
            <a:ext cx="11430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8CC28C"/>
                </a:solidFill>
                <a:latin typeface="Segoe UI"/>
              </a:rPr>
              <a:t>✓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892040" y="3886200"/>
            <a:ext cx="1289304" cy="38404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965192" y="3904488"/>
            <a:ext cx="11430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8CC28C"/>
                </a:solidFill>
                <a:latin typeface="Segoe UI"/>
              </a:rPr>
              <a:t>✓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217920" y="3886200"/>
            <a:ext cx="1289304" cy="38404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291072" y="3904488"/>
            <a:ext cx="11430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8CC28C"/>
                </a:solidFill>
                <a:latin typeface="Segoe UI"/>
              </a:rPr>
              <a:t>✓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543800" y="3886200"/>
            <a:ext cx="1289304" cy="38404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616952" y="3904488"/>
            <a:ext cx="11430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7AA2C7"/>
                </a:solidFill>
                <a:latin typeface="Segoe UI"/>
              </a:rPr>
              <a:t>~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869680" y="3886200"/>
            <a:ext cx="1289304" cy="38404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942832" y="3904488"/>
            <a:ext cx="11430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8CC28C"/>
                </a:solidFill>
                <a:latin typeface="Segoe UI"/>
              </a:rPr>
              <a:t>✓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0195560" y="3886200"/>
            <a:ext cx="1289304" cy="38404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0268712" y="3904488"/>
            <a:ext cx="11430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66707E"/>
                </a:solidFill>
                <a:latin typeface="Segoe UI"/>
              </a:rPr>
              <a:t>—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40080" y="4306824"/>
            <a:ext cx="2889504" cy="38404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13232" y="4325112"/>
            <a:ext cx="27432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E8EAED"/>
                </a:solidFill>
                <a:latin typeface="Segoe UI"/>
              </a:rPr>
              <a:t>Hooks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566160" y="4306824"/>
            <a:ext cx="1289304" cy="38404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639312" y="4325112"/>
            <a:ext cx="11430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8CC28C"/>
                </a:solidFill>
                <a:latin typeface="Segoe UI"/>
              </a:rPr>
              <a:t>✓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892040" y="4306824"/>
            <a:ext cx="1289304" cy="38404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965192" y="4325112"/>
            <a:ext cx="11430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8CC28C"/>
                </a:solidFill>
                <a:latin typeface="Segoe UI"/>
              </a:rPr>
              <a:t>✓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217920" y="4306824"/>
            <a:ext cx="1289304" cy="38404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291072" y="4325112"/>
            <a:ext cx="11430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AA4B2"/>
                </a:solidFill>
                <a:latin typeface="Segoe UI"/>
              </a:rPr>
              <a:t>✓*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543800" y="4306824"/>
            <a:ext cx="1289304" cy="38404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616952" y="4325112"/>
            <a:ext cx="11430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66707E"/>
                </a:solidFill>
                <a:latin typeface="Segoe UI"/>
              </a:rPr>
              <a:t>—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8869680" y="4306824"/>
            <a:ext cx="1289304" cy="38404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942832" y="4325112"/>
            <a:ext cx="11430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8CC28C"/>
                </a:solidFill>
                <a:latin typeface="Segoe UI"/>
              </a:rPr>
              <a:t>✓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0195560" y="4306824"/>
            <a:ext cx="1289304" cy="38404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0268712" y="4325112"/>
            <a:ext cx="11430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66707E"/>
                </a:solidFill>
                <a:latin typeface="Segoe UI"/>
              </a:rPr>
              <a:t>—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40080" y="4727448"/>
            <a:ext cx="2889504" cy="38404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13232" y="4745736"/>
            <a:ext cx="27432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E8EAED"/>
                </a:solidFill>
                <a:latin typeface="Segoe UI"/>
              </a:rPr>
              <a:t>MCP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3566160" y="4727448"/>
            <a:ext cx="1289304" cy="38404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3639312" y="4745736"/>
            <a:ext cx="11430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8CC28C"/>
                </a:solidFill>
                <a:latin typeface="Segoe UI"/>
              </a:rPr>
              <a:t>✓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892040" y="4727448"/>
            <a:ext cx="1289304" cy="38404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4965192" y="4745736"/>
            <a:ext cx="11430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8CC28C"/>
                </a:solidFill>
                <a:latin typeface="Segoe UI"/>
              </a:rPr>
              <a:t>✓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217920" y="4727448"/>
            <a:ext cx="1289304" cy="38404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291072" y="4745736"/>
            <a:ext cx="11430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8CC28C"/>
                </a:solidFill>
                <a:latin typeface="Segoe UI"/>
              </a:rPr>
              <a:t>✓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7543800" y="4727448"/>
            <a:ext cx="1289304" cy="38404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7616952" y="4745736"/>
            <a:ext cx="11430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8CC28C"/>
                </a:solidFill>
                <a:latin typeface="Segoe UI"/>
              </a:rPr>
              <a:t>✓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8869680" y="4727448"/>
            <a:ext cx="1289304" cy="38404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8942832" y="4745736"/>
            <a:ext cx="11430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8CC28C"/>
                </a:solidFill>
                <a:latin typeface="Segoe UI"/>
              </a:rPr>
              <a:t>✓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0195560" y="4727448"/>
            <a:ext cx="1289304" cy="38404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0268712" y="4745736"/>
            <a:ext cx="11430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7AA2C7"/>
                </a:solidFill>
                <a:latin typeface="Segoe UI"/>
              </a:rPr>
              <a:t>~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40080" y="5257800"/>
            <a:ext cx="10927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~ </a:t>
            </a:r>
            <a:r>
              <a:rPr sz="1050" b="0">
                <a:solidFill>
                  <a:srgbClr val="9AA4B2"/>
                </a:solidFill>
                <a:latin typeface="Segoe UI"/>
              </a:rPr>
              <a:t>Preview / partial (JetBrains: Preview; code review: read-only MCP tools). </a:t>
            </a:r>
            <a:r>
              <a:rPr sz="1100" b="1">
                <a:solidFill>
                  <a:srgbClr val="D97757"/>
                </a:solidFill>
                <a:latin typeface="Segoe UI"/>
              </a:rPr>
              <a:t>* </a:t>
            </a:r>
            <a:r>
              <a:rPr sz="1050" b="0">
                <a:solidFill>
                  <a:srgbClr val="9AA4B2"/>
                </a:solidFill>
                <a:latin typeface="Segoe UI"/>
              </a:rPr>
              <a:t>different hook schema. </a:t>
            </a:r>
            <a:r>
              <a:rPr sz="1100" b="1">
                <a:solidFill>
                  <a:srgbClr val="66707E"/>
                </a:solidFill>
                <a:latin typeface="Segoe UI"/>
              </a:rPr>
              <a:t>— </a:t>
            </a:r>
            <a:r>
              <a:rPr sz="1050" b="0">
                <a:solidFill>
                  <a:srgbClr val="9AA4B2"/>
                </a:solidFill>
                <a:latin typeface="Segoe UI"/>
              </a:rPr>
              <a:t>NOT DOCUMENTED.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640080" y="5806440"/>
            <a:ext cx="10927080" cy="475488"/>
          </a:xfrm>
          <a:prstGeom prst="rect">
            <a:avLst/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640080" y="5806440"/>
            <a:ext cx="82296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Full matrix with sources: docs/research/COPILOT_FINDINGS_2026-10-17.md.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SESSION 1 · §01 · INSTALL AND AUTH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Install, log in, start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GitHub Copilot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078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Install (pick one)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011680"/>
            <a:ext cx="5486400" cy="2011680"/>
          </a:xfrm>
          <a:prstGeom prst="rect">
            <a:avLst/>
          </a:prstGeom>
          <a:solidFill>
            <a:srgbClr val="0A0E13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194560"/>
            <a:ext cx="502920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npm install -g @github/copilot   # Node 22+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brew install --cask copilot-cli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winget install GitHub.Copilot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curl -fsSL https://gh.io/copilot-install | bash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9AA4B2"/>
                </a:solidFill>
                <a:latin typeface="Consolas"/>
              </a:rPr>
              <a:t># auto-update on; COPILOT_AUTO_UPDATE=false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700784"/>
            <a:ext cx="5166360" cy="233172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901952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AA2C7"/>
                </a:solidFill>
                <a:latin typeface="Segoe UI"/>
              </a:rPr>
              <a:t>Auth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359152"/>
            <a:ext cx="466344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00" b="0">
                <a:solidFill>
                  <a:srgbClr val="E8EAED"/>
                </a:solidFill>
                <a:latin typeface="Segoe UI"/>
              </a:rPr>
              <a:t>copilot login  (or /login): --web-flow, --device-code, --with-token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00" b="0">
                <a:solidFill>
                  <a:srgbClr val="E8EAED"/>
                </a:solidFill>
                <a:latin typeface="Segoe UI"/>
              </a:rPr>
              <a:t>Env precedence: COPILOT_GITHUB_TOKEN &gt; GH_TOKEN &gt; GITHUB_TOKEN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00" b="0">
                <a:solidFill>
                  <a:srgbClr val="E8EAED"/>
                </a:solidFill>
                <a:latin typeface="Segoe UI"/>
              </a:rPr>
              <a:t>PAT = fine-grained, user-owned, “Copilot Requests” permission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00" b="0">
                <a:solidFill>
                  <a:srgbClr val="E8EAED"/>
                </a:solidFill>
                <a:latin typeface="Segoe UI"/>
              </a:rPr>
              <a:t>Actions: permissions copilot-requests: write + org policy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206240"/>
            <a:ext cx="10927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First run in a repo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526280"/>
            <a:ext cx="10927080" cy="1097280"/>
          </a:xfrm>
          <a:prstGeom prst="rect">
            <a:avLst/>
          </a:prstGeom>
          <a:solidFill>
            <a:srgbClr val="0A0E13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709160"/>
            <a:ext cx="104698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cd your-project &amp;&amp; copilot      # trust-folder prompt on first launch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copilot init                     # writes .github/copilot-instructions.md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806440"/>
            <a:ext cx="10927080" cy="475488"/>
          </a:xfrm>
          <a:prstGeom prst="rect">
            <a:avLst/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5806440"/>
            <a:ext cx="82296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The CLI is `copilot`. If a tutorial says `gh copilot suggest`, it is the retired extension.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SESSION 1 · §01 · HEADLESS, MODELS, BILLING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copilot -p, models, and AI Credits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GitHub Copilot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0784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Headless (scripts / CI)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011680"/>
            <a:ext cx="6400800" cy="2240280"/>
          </a:xfrm>
          <a:prstGeom prst="rect">
            <a:avLst/>
          </a:prstGeom>
          <a:solidFill>
            <a:srgbClr val="0A0E13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194560"/>
            <a:ext cx="594360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copilot -p "Explain ./complex.ts" -s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copilot -p '…' --allow-tool='shell(git:*)' \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   --deny-tool='shell(git push)' --no-ask-user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copilot -p '…' --output-format=json   # JSONL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copilot -p '…' --trust-folder         # repo hooks/MCP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copilot -p '…' --max-ai-credits=5     # soft cap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69480" y="1700784"/>
            <a:ext cx="4297680" cy="256032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43800" y="1901952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AA2C7"/>
                </a:solidFill>
                <a:latin typeface="Segoe UI"/>
              </a:rPr>
              <a:t>Models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2359152"/>
            <a:ext cx="37947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00" b="0">
                <a:solidFill>
                  <a:srgbClr val="E8EAED"/>
                </a:solidFill>
                <a:latin typeface="Segoe UI"/>
              </a:rPr>
              <a:t>CLI default: claude-sonnet-5.5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00" b="0">
                <a:solidFill>
                  <a:srgbClr val="E8EAED"/>
                </a:solidFill>
                <a:latin typeface="Segoe UI"/>
              </a:rPr>
              <a:t>--model / COPILOT_MODEL / /model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00" b="0">
                <a:solidFill>
                  <a:srgbClr val="E8EAED"/>
                </a:solidFill>
                <a:latin typeface="Segoe UI"/>
              </a:rPr>
              <a:t>auto: Copilot picks (10% discount on paid)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00" b="0">
                <a:solidFill>
                  <a:srgbClr val="E8EAED"/>
                </a:solidFill>
                <a:latin typeface="Segoe UI"/>
              </a:rPr>
              <a:t>--effort low…max · 1M ctx: VS Code + CLI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434840"/>
            <a:ext cx="10927080" cy="123444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636008"/>
            <a:ext cx="10469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Segoe UI"/>
              </a:rPr>
              <a:t>Billing: GitHub AI Credits since 2026-06-01 (1 credit = $0.01)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93208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00" b="0">
                <a:solidFill>
                  <a:srgbClr val="E8EAED"/>
                </a:solidFill>
                <a:latin typeface="Segoe UI"/>
              </a:rPr>
              <a:t>Pro 1,500 · Pro+ 7,000 · Max 20,000 credits/month; cost = tokens incl. cached-input and cache-write. Completions free. “Premium requests” are LEGACY.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806440"/>
            <a:ext cx="10927080" cy="475488"/>
          </a:xfrm>
          <a:prstGeom prst="rect">
            <a:avLst/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5806440"/>
            <a:ext cx="82296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Any slide quoting “300 premium requests” is out of date (legacy annual plans only).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SESSION 1 · §02 · MEMORY AND INSTRUCTIONS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The two-level pattern, in Copilot files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GitHub Copilot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9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5349240" cy="274320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29968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Segoe UI"/>
              </a:rPr>
              <a:t>Level 1 — always loaded (small)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87168"/>
            <a:ext cx="484632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AGENTS.md at the root — the one file every surface reads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Optional small .github/copilot-instructions.md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.github/instructions/*.instructions.md with applyTo globs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One-line POINTERS to everything else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828800"/>
            <a:ext cx="5349240" cy="274320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029968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AA2C7"/>
                </a:solidFill>
                <a:latin typeface="Segoe UI"/>
              </a:rPr>
              <a:t>Level 2 — on demand (the detail)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487168"/>
            <a:ext cx="484632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data/changes/STATUS.md — living state per ticket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PLAYBOOK.md · SHARP_EDGES.md · TEST_MAP.md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&lt;TICKET&gt;/&lt;TICKET&gt;.md — self-contained ledgers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@path imports (CLI) only for what MUST be eager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754880"/>
            <a:ext cx="10927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8CC28C"/>
                </a:solidFill>
                <a:latin typeface="Segoe UI"/>
              </a:rPr>
              <a:t>Tier 0 (machine-local): </a:t>
            </a:r>
            <a:r>
              <a:rPr sz="1200" b="0">
                <a:solidFill>
                  <a:srgbClr val="9AA4B2"/>
                </a:solidFill>
                <a:latin typeface="Segoe UI"/>
              </a:rPr>
              <a:t>IDENTITY.md, gitignored — or ~/.copilot/copilot-instructions.md for personal, machine-only instructions. The CLI does NOT read ~/.claude/CLAUDE.md.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806440"/>
            <a:ext cx="10927080" cy="475488"/>
          </a:xfrm>
          <a:prstGeom prst="rect">
            <a:avLst/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5806440"/>
            <a:ext cx="82296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Same cut as in Claude Code and Cursor: pointers, not copies.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SESSION 1 · §02 · MEMORY AND INSTRUCTIONS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What loads where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GitHub Copilot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10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10927080" cy="53035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828800"/>
            <a:ext cx="73152" cy="530352"/>
          </a:xfrm>
          <a:prstGeom prst="rect">
            <a:avLst/>
          </a:prstGeom>
          <a:solidFill>
            <a:srgbClr val="8CC2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874520"/>
            <a:ext cx="42062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CLI merges everything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1874520"/>
            <a:ext cx="62179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CLAUDE.md, GEMINI.md, AGENTS.md, .instructions.md, .claude/rules, copilot-instructions — at git root AND cwd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468880"/>
            <a:ext cx="10927080" cy="53035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468880"/>
            <a:ext cx="73152" cy="5303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514600"/>
            <a:ext cx="42062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Nested AGENTS.md differs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2514600"/>
            <a:ext cx="62179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CLI: root + cwd only · cloud agent: nearest wins · VS Code Local: setting, off by default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108960"/>
            <a:ext cx="10927080" cy="53035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108960"/>
            <a:ext cx="73152" cy="530352"/>
          </a:xfrm>
          <a:prstGeom prst="rect">
            <a:avLst/>
          </a:prstGeom>
          <a:solidFill>
            <a:srgbClr val="8CC2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154680"/>
            <a:ext cx="42062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Per-folder rules → applyTo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3154680"/>
            <a:ext cx="62179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Safe pattern: .instructions.md with applyTo "subdir/**" (+ excludeAgent: code-review | cloud-agent)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749040"/>
            <a:ext cx="10927080" cy="53035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3749040"/>
            <a:ext cx="73152" cy="5303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794760"/>
            <a:ext cx="42062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Prompt files are Local-only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3794760"/>
            <a:ext cx="62179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.github/prompts/*.prompt.md: VS Code Local, VS, JetBrains. CLI: use skills instead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389120"/>
            <a:ext cx="10927080" cy="53035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4389120"/>
            <a:ext cx="73152" cy="5303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434840"/>
            <a:ext cx="42062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Copilot Memory ≠ your ledger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80" y="4434840"/>
            <a:ext cx="62179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Cloud, preview, 28-day expiry. VS Code /memories and CLI /chronicle are other systems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5806440"/>
            <a:ext cx="10927080" cy="475488"/>
          </a:xfrm>
          <a:prstGeom prst="rect">
            <a:avLst/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" y="5806440"/>
            <a:ext cx="82296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Memory features are a complement; data/changes/ + AGENTS.md stay the source of truth.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SESSION 1 · §03 · PERMISSIONS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Allow, deny — and deny wins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GitHub Copilot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0784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Pattern syntax: Kind(argument)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011680"/>
            <a:ext cx="5760720" cy="2286000"/>
          </a:xfrm>
          <a:prstGeom prst="rect">
            <a:avLst/>
          </a:prstGeom>
          <a:solidFill>
            <a:srgbClr val="0A0E13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194560"/>
            <a:ext cx="5303520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--allow-tool='shell(git:*)'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--deny-tool='shell(git push)'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--deny-tool='shell(gh pr)'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--allow-tool='write(src/*.ts)'  --deny-tool='read(.env)'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--allow-tool='MyMCP(tool)'      --allow-url=github.com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9AA4B2"/>
                </a:solidFill>
                <a:latin typeface="Consolas"/>
              </a:rPr>
              <a:t># deny beats allow — even with --yolo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29400" y="1700784"/>
            <a:ext cx="4937760" cy="260604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03720" y="1901952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AA2C7"/>
                </a:solidFill>
                <a:latin typeface="Segoe UI"/>
              </a:rPr>
              <a:t>Where it persists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2359152"/>
            <a:ext cx="44348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00" b="0">
                <a:solidFill>
                  <a:srgbClr val="E8EAED"/>
                </a:solidFill>
                <a:latin typeface="Segoe UI"/>
              </a:rPr>
              <a:t>Flags: never persisted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00" b="0">
                <a:solidFill>
                  <a:srgbClr val="E8EAED"/>
                </a:solidFill>
                <a:latin typeface="Segoe UI"/>
              </a:rPr>
              <a:t>Saved approvals: ~/.copilot/permissions-config.json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00" b="0">
                <a:solidFill>
                  <a:srgbClr val="E8EAED"/>
                </a:solidFill>
                <a:latin typeface="Segoe UI"/>
              </a:rPr>
              <a:t>NO repo-level allow/deny list in the CLI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00" b="0">
                <a:solidFill>
                  <a:srgbClr val="E8EAED"/>
                </a:solidFill>
                <a:latin typeface="Segoe UI"/>
              </a:rPr>
              <a:t>permissions.* rules: managed / MDM settings only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00" b="0">
                <a:solidFill>
                  <a:srgbClr val="E8EAED"/>
                </a:solidFill>
                <a:latin typeface="Segoe UI"/>
              </a:rPr>
              <a:t>disableBypassPermissionsMode blocks --yolo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526280"/>
            <a:ext cx="10927080" cy="1097280"/>
          </a:xfrm>
          <a:prstGeom prst="rect">
            <a:avLst/>
          </a:prstGeom>
          <a:solidFill>
            <a:srgbClr val="222B38"/>
          </a:solidFill>
          <a:ln w="952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617720"/>
            <a:ext cx="1042416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Segoe UI"/>
              </a:rPr>
              <a:t>Consequence: </a:t>
            </a:r>
            <a:r>
              <a:rPr sz="1200" b="0">
                <a:solidFill>
                  <a:srgbClr val="E8EAED"/>
                </a:solidFill>
                <a:latin typeface="Segoe UI"/>
              </a:rPr>
              <a:t>a team-wide “never push” rule that lives in the repo must be a HOOK (§10). In VS Code a false terminal auto-approve rule only asks — it does not block; the docs point to a PreToolUse deny hook for that too.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806440"/>
            <a:ext cx="10927080" cy="475488"/>
          </a:xfrm>
          <a:prstGeom prst="rect">
            <a:avLst/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5806440"/>
            <a:ext cx="82296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Allowlists decide what runs without asking; only a hook can veto by content.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SESSION 1 · §03 · TRUST AND SANDBOX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Trusted folders, sandbox, cloud guardrails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GitHub Copilot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3520440" cy="361188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29968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Segoe UI"/>
              </a:rPr>
              <a:t>Trusted folders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87168"/>
            <a:ext cx="301752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00" b="0">
                <a:solidFill>
                  <a:srgbClr val="E8EAED"/>
                </a:solidFill>
                <a:latin typeface="Segoe UI"/>
              </a:rPr>
              <a:t>Prompt on first launch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00" b="0">
                <a:solidFill>
                  <a:srgbClr val="E8EAED"/>
                </a:solidFill>
                <a:latin typeface="Segoe UI"/>
              </a:rPr>
              <a:t>Gates repo hooks, workspace MCP, plugins, repo model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00" b="0">
                <a:solidFill>
                  <a:srgbClr val="E8EAED"/>
                </a:solidFill>
                <a:latin typeface="Segoe UI"/>
              </a:rPr>
              <a:t>-p in an untrusted folder SKIPS them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00" b="0">
                <a:solidFill>
                  <a:srgbClr val="E8EAED"/>
                </a:solidFill>
                <a:latin typeface="Segoe UI"/>
              </a:rPr>
              <a:t>→ --trust-folder (one run) or GITHUB_COPILOT_PROMPT_MODE_* env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1828800"/>
            <a:ext cx="3520440" cy="361188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2029968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AA2C7"/>
                </a:solidFill>
                <a:latin typeface="Segoe UI"/>
              </a:rPr>
              <a:t>Local sandbox (GA 2026-10-07)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487168"/>
            <a:ext cx="301752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00" b="0">
                <a:solidFill>
                  <a:srgbClr val="E8EAED"/>
                </a:solidFill>
                <a:latin typeface="Segoe UI"/>
              </a:rPr>
              <a:t>/sandbox enable · --sandbox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00" b="0">
                <a:solidFill>
                  <a:srgbClr val="E8EAED"/>
                </a:solidFill>
                <a:latin typeface="Segoe UI"/>
              </a:rPr>
              <a:t>Seatbelt / Bubblewrap / ProcessContainer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00" b="0">
                <a:solidFill>
                  <a:srgbClr val="E8EAED"/>
                </a:solidFill>
                <a:latin typeface="Segoe UI"/>
              </a:rPr>
              <a:t>network allow/block hosts, deniedPaths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00" b="0">
                <a:solidFill>
                  <a:srgbClr val="E8EAED"/>
                </a:solidFill>
                <a:latin typeface="Segoe UI"/>
              </a:rPr>
              <a:t>credential masking per host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00" b="0">
                <a:solidFill>
                  <a:srgbClr val="E8EAED"/>
                </a:solidFill>
                <a:latin typeface="Segoe UI"/>
              </a:rPr>
              <a:t>Not repo-overridable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1828800"/>
            <a:ext cx="3520440" cy="361188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029968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8CC28C"/>
                </a:solidFill>
                <a:latin typeface="Segoe UI"/>
              </a:rPr>
              <a:t>Cloud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487168"/>
            <a:ext cx="301752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00" b="0">
                <a:solidFill>
                  <a:srgbClr val="E8EAED"/>
                </a:solidFill>
                <a:latin typeface="Segoe UI"/>
              </a:rPr>
              <a:t>All tools pre-approved; hook “ask” = deny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00" b="0">
                <a:solidFill>
                  <a:srgbClr val="E8EAED"/>
                </a:solidFill>
                <a:latin typeface="Segoe UI"/>
              </a:rPr>
              <a:t>Pushes only to its copilot/ branch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00" b="0">
                <a:solidFill>
                  <a:srgbClr val="E8EAED"/>
                </a:solidFill>
                <a:latin typeface="Segoe UI"/>
              </a:rPr>
              <a:t>Cannot mark ready, approve or merge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00" b="0">
                <a:solidFill>
                  <a:srgbClr val="E8EAED"/>
                </a:solidFill>
                <a:latin typeface="Segoe UI"/>
              </a:rPr>
              <a:t>Firewall in repo settings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00" b="0">
                <a:solidFill>
                  <a:srgbClr val="E8EAED"/>
                </a:solidFill>
                <a:latin typeface="Segoe UI"/>
              </a:rPr>
              <a:t>Humans approve workflow runs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806440"/>
            <a:ext cx="10927080" cy="475488"/>
          </a:xfrm>
          <a:prstGeom prst="rect">
            <a:avLst/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5806440"/>
            <a:ext cx="82296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In CI the trust prompt cannot appear — so your repo hook silently does not load.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SESSION 1 · §04 · SESSIONS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Sessions: resume, fork, rewind, delegate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GitHub Copilot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13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10927080" cy="45720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7452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Resume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18745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copilot --continue · --resume[=ID|name] · /resume — every -p run prints its 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40" y="187452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AA4B2"/>
                </a:solidFill>
                <a:latin typeface="Segoe UI"/>
              </a:rPr>
              <a:t>CLI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359152"/>
            <a:ext cx="10927080" cy="45720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404872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Fork / name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2404872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/fork (works while running) · -n NAME · /rename · /worktree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0" y="2404872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AA4B2"/>
                </a:solidFill>
                <a:latin typeface="Segoe UI"/>
              </a:rPr>
              <a:t>CLI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889504"/>
            <a:ext cx="10927080" cy="45720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935224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Roll back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2935224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/rewind (/undo): conversation only, or conversation + files — git not required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40" y="2935224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AA4B2"/>
                </a:solidFill>
                <a:latin typeface="Segoe UI"/>
              </a:rPr>
              <a:t>CLI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419856"/>
            <a:ext cx="10927080" cy="45720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3465576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Checkpoints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11880" y="3465576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One per compaction (/session checkpoints) — a SUMMARY, not a file snapshot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9840" y="3465576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AA4B2"/>
                </a:solidFill>
                <a:latin typeface="Segoe UI"/>
              </a:rPr>
              <a:t>CLI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950208"/>
            <a:ext cx="10927080" cy="45720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995928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Share / steer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11880" y="3995928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/share (link, file, html, gist) · /remote on — steer from web, mobile, VS Code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49840" y="3995928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AA4B2"/>
                </a:solidFill>
                <a:latin typeface="Segoe UI"/>
              </a:rPr>
              <a:t>CLI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480560"/>
            <a:ext cx="10927080" cy="45720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452628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Hand off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11880" y="45262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/delegate or a leading &amp; → cloud agent, branch + draft PR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49840" y="452628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AA4B2"/>
                </a:solidFill>
                <a:latin typeface="Segoe UI"/>
              </a:rPr>
              <a:t>CLI→cloud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5010912"/>
            <a:ext cx="10927080" cy="45720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5056632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VS Code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11880" y="5056632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Checkpoints, fork from checkpoint, Session Target picks harness or Cloud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49840" y="5056632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AA4B2"/>
                </a:solidFill>
                <a:latin typeface="Segoe UI"/>
              </a:rPr>
              <a:t>IDE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806440"/>
            <a:ext cx="10927080" cy="475488"/>
          </a:xfrm>
          <a:prstGeom prst="rect">
            <a:avLst/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0080" y="5806440"/>
            <a:ext cx="82296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A compaction checkpoint is a summary; only /rewind with files restores your tree.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SESSION 1 · §05 · CONTEXT WINDOW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Context window: the resource that governs everything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GitHub Copilot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14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6949440" cy="43891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65376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System 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1865376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E8EAED"/>
                </a:solidFill>
                <a:latin typeface="Segoe UI"/>
              </a:rPr>
              <a:t>Hidden — always first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1865376"/>
            <a:ext cx="777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4B2"/>
                </a:solidFill>
                <a:latin typeface="Segoe UI"/>
              </a:rPr>
              <a:t>fixed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359152"/>
            <a:ext cx="6949440" cy="43891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39572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Custom instructions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39572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E8EAED"/>
                </a:solidFill>
                <a:latin typeface="Segoe UI"/>
              </a:rPr>
              <a:t>AGENTS.md + instructions — you control this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2395728"/>
            <a:ext cx="777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4B2"/>
                </a:solidFill>
                <a:latin typeface="Segoe UI"/>
              </a:rPr>
              <a:t>you decide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889504"/>
            <a:ext cx="6949440" cy="43891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92608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System + MCP 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29260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E8EAED"/>
                </a:solidFill>
                <a:latin typeface="Segoe UI"/>
              </a:rPr>
              <a:t>Tool schemas; deferred tool search helps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2926080"/>
            <a:ext cx="777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4B2"/>
                </a:solidFill>
                <a:latin typeface="Segoe UI"/>
              </a:rPr>
              <a:t>per server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419856"/>
            <a:ext cx="6949440" cy="43891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345643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Messages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345643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E8EAED"/>
                </a:solidFill>
                <a:latin typeface="Segoe UI"/>
              </a:rPr>
              <a:t>Files read, tool output… grows every turn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3456432"/>
            <a:ext cx="777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4B2"/>
                </a:solidFill>
                <a:latin typeface="Segoe UI"/>
              </a:rPr>
              <a:t>grows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950208"/>
            <a:ext cx="6949440" cy="43891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986784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Free space + buffer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3986784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E8EAED"/>
                </a:solidFill>
                <a:latin typeface="Segoe UI"/>
              </a:rPr>
              <a:t>Auto-compaction starts ≈80%, pauses ≈95%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3986784"/>
            <a:ext cx="777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4B2"/>
                </a:solidFill>
                <a:latin typeface="Segoe UI"/>
              </a:rPr>
              <a:t>watch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1837944"/>
            <a:ext cx="3703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The controls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63840" y="2148840"/>
            <a:ext cx="3703320" cy="2331720"/>
          </a:xfrm>
          <a:prstGeom prst="rect">
            <a:avLst/>
          </a:prstGeom>
          <a:solidFill>
            <a:srgbClr val="0A0E13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19872" y="2331720"/>
            <a:ext cx="32461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/context       # breakdown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/compact [focus]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/usage         # tokens, credits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9AA4B2"/>
                </a:solidFill>
                <a:latin typeface="Consolas"/>
              </a:rPr>
              <a:t># &gt;20 KiB tool output → temp file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9AA4B2"/>
                </a:solidFill>
                <a:latin typeface="Consolas"/>
              </a:rPr>
              <a:t># COPILOT_LARGE_OUTPUT_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9AA4B2"/>
                </a:solidFill>
                <a:latin typeface="Consolas"/>
              </a:rPr>
              <a:t>#   THRESHOLD_BYTES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617720"/>
            <a:ext cx="10927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8EAED"/>
                </a:solidFill>
                <a:latin typeface="Segoe UI"/>
              </a:rPr>
              <a:t>VS Code: </a:t>
            </a:r>
            <a:r>
              <a:rPr sz="1200" b="0">
                <a:solidFill>
                  <a:srgbClr val="9AA4B2"/>
                </a:solidFill>
                <a:latin typeface="Segoe UI"/>
              </a:rPr>
              <a:t>the context-window control in the chat input shows tokens, breakdown and AI credits; #codebase runs a search, it does not dump the repo. Exact default window per model: NOT DOCUMENTED in one table.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5806440"/>
            <a:ext cx="10927080" cy="475488"/>
          </a:xfrm>
          <a:prstGeom prst="rect">
            <a:avLst/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0080" y="5806440"/>
            <a:ext cx="82296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Compactions cannot be undone — compact on purpose, with a focus.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SESSION 1 · §05 · CONTEXT WINDOW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Context hygiene: maximum signal per token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GitHub Copilot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15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5335524" cy="107899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1248" y="2029968"/>
            <a:ext cx="4572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2048256"/>
            <a:ext cx="457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1975104"/>
            <a:ext cx="43754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Small, stable instructions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286000"/>
            <a:ext cx="4375404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If you can delete it without the agent going wrong, delete it. Pointers, not copies.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1636" y="1828800"/>
            <a:ext cx="5335524" cy="107899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32804" y="2029968"/>
            <a:ext cx="4572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2804" y="2048256"/>
            <a:ext cx="457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4596" y="1975104"/>
            <a:ext cx="43754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Rare material → skills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4596" y="2286000"/>
            <a:ext cx="4375404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Skills load on demand by description; instructions load always.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163824"/>
            <a:ext cx="5335524" cy="107899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1248" y="3364992"/>
            <a:ext cx="4572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3383280"/>
            <a:ext cx="457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310128"/>
            <a:ext cx="43754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MCP in moderation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621024"/>
            <a:ext cx="4375404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Fewer servers, disabledMcpServers, deferTools: "auto" for big tool sets.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31636" y="3163824"/>
            <a:ext cx="5335524" cy="107899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32804" y="3364992"/>
            <a:ext cx="4572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32804" y="3383280"/>
            <a:ext cx="457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54596" y="3310128"/>
            <a:ext cx="43754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Subagents for research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4596" y="3621024"/>
            <a:ext cx="4375404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Separate context windows: noise dies outside, the summary returns.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498848"/>
            <a:ext cx="5335524" cy="107899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41248" y="4700016"/>
            <a:ext cx="4572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" y="4718304"/>
            <a:ext cx="457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3040" y="4645152"/>
            <a:ext cx="43754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Plan → implement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4956048"/>
            <a:ext cx="4375404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/plan first (enforced at the tool layer), then implement.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31636" y="4498848"/>
            <a:ext cx="5335524" cy="107899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32804" y="4700016"/>
            <a:ext cx="4572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32804" y="4718304"/>
            <a:ext cx="457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54596" y="4645152"/>
            <a:ext cx="43754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New session per task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54596" y="4956048"/>
            <a:ext cx="4375404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Don't drag an unrelated transcript; /compact with a focus when you must.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5806440"/>
            <a:ext cx="10927080" cy="475488"/>
          </a:xfrm>
          <a:prstGeom prst="rect">
            <a:avLst/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0080" y="5806440"/>
            <a:ext cx="82296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Session 2's tool prevalence is, at bottom, context policy.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SESSION 1 · §06 · PROMPT CACHING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Caching: the honest answer — no knob, real bill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GitHub Copilot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16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10512"/>
            <a:ext cx="10927080" cy="53035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810512"/>
            <a:ext cx="73152" cy="5303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856232"/>
            <a:ext cx="42062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A cache_control / TTL setting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1856232"/>
            <a:ext cx="62179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Does not exist in CLI, VS Code or cloud agent — NOT DOCUMENTED anywhere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414016"/>
            <a:ext cx="10927080" cy="53035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414016"/>
            <a:ext cx="73152" cy="530352"/>
          </a:xfrm>
          <a:prstGeom prst="rect">
            <a:avLst/>
          </a:prstGeom>
          <a:solidFill>
            <a:srgbClr val="8CC2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459736"/>
            <a:ext cx="42062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Caching happens and is billed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2459736"/>
            <a:ext cx="62179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Pricing tables charge cached-input and cache-write tokens per model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017520"/>
            <a:ext cx="10927080" cy="53035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017520"/>
            <a:ext cx="73152" cy="530352"/>
          </a:xfrm>
          <a:prstGeom prst="rect">
            <a:avLst/>
          </a:prstGeom>
          <a:solidFill>
            <a:srgbClr val="8CC2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063240"/>
            <a:ext cx="42062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VS Code Cache Explorer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3063240"/>
            <a:ext cx="62179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Diagnose only: per-turn hit %, reused tokens, first divergence in the prompt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621024"/>
            <a:ext cx="10927080" cy="53035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3621024"/>
            <a:ext cx="73152" cy="530352"/>
          </a:xfrm>
          <a:prstGeom prst="rect">
            <a:avLst/>
          </a:prstGeom>
          <a:solidFill>
            <a:srgbClr val="8CC2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666744"/>
            <a:ext cx="42062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Keep the prefix stable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3666744"/>
            <a:ext cx="62179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Choose model/effort/tools first; don't edit instructions mid-session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224528"/>
            <a:ext cx="10927080" cy="53035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4224528"/>
            <a:ext cx="73152" cy="530352"/>
          </a:xfrm>
          <a:prstGeom prst="rect">
            <a:avLst/>
          </a:prstGeom>
          <a:solidFill>
            <a:srgbClr val="8CC2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270248"/>
            <a:ext cx="42062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Fork, don't restart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80" y="4270248"/>
            <a:ext cx="62179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Forking preserves the prompt cache; subagents for side research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828032"/>
            <a:ext cx="10927080" cy="53035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" y="4828032"/>
            <a:ext cx="73152" cy="5303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4873752"/>
            <a:ext cx="42062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CLI cache 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80" y="4873752"/>
            <a:ext cx="62179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None — /usage shows tokens + credits; OTel cache attributes UNVERIFIED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5806440"/>
            <a:ext cx="10927080" cy="475488"/>
          </a:xfrm>
          <a:prstGeom prst="rect">
            <a:avLst/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0080" y="5806440"/>
            <a:ext cx="82296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You cannot set the cache; you can stop breaking it. Mechanism demo: examples/prompt-caching/.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SESSION 1 · §07 · MCP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One protocol, four config files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GitHub Copilot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17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10927080" cy="45720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CLI user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182880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~/.copilot/mcp-config.json — mcpServers; copilot mcp add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40" y="182880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AA4B2"/>
                </a:solidFill>
                <a:latin typeface="Segoe UI"/>
              </a:rPr>
              <a:t>user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313432"/>
            <a:ext cx="10927080" cy="45720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359152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CLI / Copilot harness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2359152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.mcp.json or .github/mcp.json — mcpServers, needs folder trust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0" y="2359152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AA4B2"/>
                </a:solidFill>
                <a:latin typeface="Segoe UI"/>
              </a:rPr>
              <a:t>repo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843784"/>
            <a:ext cx="10927080" cy="45720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889504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VS Code Local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2889504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.vscode/mcp.json — servers + inputs[] (${workspaceFolder})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40" y="2889504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AA4B2"/>
                </a:solidFill>
                <a:latin typeface="Segoe UI"/>
              </a:rPr>
              <a:t>repo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374136"/>
            <a:ext cx="10927080" cy="45720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3419856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Cloud 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11880" y="3419856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Repo Settings → Copilot → MCP servers (JSON in the UI)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9840" y="3419856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AA4B2"/>
                </a:solidFill>
                <a:latin typeface="Segoe UI"/>
              </a:rPr>
              <a:t>GitHub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005072"/>
            <a:ext cx="10927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CLI shape — `tools` is REQUIRED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315968"/>
            <a:ext cx="10927080" cy="1325880"/>
          </a:xfrm>
          <a:prstGeom prst="rect">
            <a:avLst/>
          </a:prstGeom>
          <a:solidFill>
            <a:srgbClr val="0A0E13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" y="4498848"/>
            <a:ext cx="104698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{ "mcpServers": {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   "codegraph": {"command": "codegraph", "args": ["serve","--path",".","--mcp"], "tools": ["*"]},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   "context7":  {"type": "http", "url": "https://mcp.context7.com/mcp", "tools": ["*"]} } }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5806440"/>
            <a:ext cx="10927080" cy="475488"/>
          </a:xfrm>
          <a:prstGeom prst="rect">
            <a:avLst/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" y="5806440"/>
            <a:ext cx="82296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mcpServers for CLI and cloud, servers for .vscode/mcp.json — the #1 copy-paste bug.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SESSION 1 · §07 · MCP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MCP gotchas per surface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GitHub Copilot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18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5335524" cy="107899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1248" y="2029968"/>
            <a:ext cx="4572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2048256"/>
            <a:ext cx="457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Pw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1975104"/>
            <a:ext cx="43754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Built-ins in the CLI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286000"/>
            <a:ext cx="4375404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github-mcp-server (read-heavy), playwright, fetch, time. Don't configure Playwright twice.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1636" y="1828800"/>
            <a:ext cx="5335524" cy="107899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32804" y="2029968"/>
            <a:ext cx="4572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2804" y="2048256"/>
            <a:ext cx="457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4596" y="1975104"/>
            <a:ext cx="43754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Cloud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4596" y="2286000"/>
            <a:ext cx="4375404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Tools only (no resources/prompts), no OAuth remotes, secrets as COPILOT_MCP_*. Runs them without approval.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163824"/>
            <a:ext cx="5335524" cy="107899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1248" y="3364992"/>
            <a:ext cx="4572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3383280"/>
            <a:ext cx="457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310128"/>
            <a:ext cx="43754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Binaries in the cloud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621024"/>
            <a:ext cx="4375404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.github/workflows/copilot-setup-steps.yml, one job copilot-setup-steps, on the default branch.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31636" y="3163824"/>
            <a:ext cx="5335524" cy="107899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32804" y="3364992"/>
            <a:ext cx="4572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32804" y="3383280"/>
            <a:ext cx="457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54596" y="3310128"/>
            <a:ext cx="43754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Code 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4596" y="3621024"/>
            <a:ext cx="4375404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Uses an MCP tool only if annotations.readOnlyHint: true — and only when the toggle is on.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498848"/>
            <a:ext cx="5335524" cy="107899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41248" y="4700016"/>
            <a:ext cx="4572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" y="4718304"/>
            <a:ext cx="457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3040" y="4645152"/>
            <a:ext cx="43754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Migrate VS Code → CLI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4956048"/>
            <a:ext cx="4375404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jq '{mcpServers: .servers}' .vscode/mcp.json &gt; .mcp.json · ${input:} servers aren't forwarded.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31636" y="4498848"/>
            <a:ext cx="5335524" cy="107899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32804" y="4700016"/>
            <a:ext cx="4572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32804" y="4718304"/>
            <a:ext cx="457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Org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54596" y="4645152"/>
            <a:ext cx="43754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Org policy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54596" y="4956048"/>
            <a:ext cx="4375404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Enterprise allowlist by fingerprint, fail-closed; private MCP registry available.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5806440"/>
            <a:ext cx="10927080" cy="475488"/>
          </a:xfrm>
          <a:prstGeom prst="rect">
            <a:avLst/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0080" y="5806440"/>
            <a:ext cx="82296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Config gives capability; instructions give judgment — a trigger map makes the agent USE it.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SESSION 1 · §08 · SKILLS AND PLUGINS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Skills: one SKILL.md, most surfaces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GitHub Copilot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078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Where Copilot looks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011680"/>
            <a:ext cx="5486400" cy="2240280"/>
          </a:xfrm>
          <a:prstGeom prst="rect">
            <a:avLst/>
          </a:prstGeom>
          <a:solidFill>
            <a:srgbClr val="0A0E13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194560"/>
            <a:ext cx="502920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.github/skills/&lt;name&gt;/SKILL.md   # all surfaces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.claude/skills/  .agents/skills/ # also read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~/.copilot/skills/  ~/.agents/skills/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9AA4B2"/>
                </a:solidFill>
                <a:latin typeface="Consolas"/>
              </a:rPr>
              <a:t># VS Code ALSO reads ~/.claude/skills/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9AA4B2"/>
                </a:solidFill>
                <a:latin typeface="Consolas"/>
              </a:rPr>
              <a:t># the CLI does NOT — copy, symlink, or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9AA4B2"/>
                </a:solidFill>
                <a:latin typeface="Consolas"/>
              </a:rPr>
              <a:t>#   copilot skill add &lt;dir&gt;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700784"/>
            <a:ext cx="5166360" cy="256032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901952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AA2C7"/>
                </a:solidFill>
                <a:latin typeface="Segoe UI"/>
              </a:rPr>
              <a:t>Frontmatter that survives everywhere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359152"/>
            <a:ext cx="4663440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00" b="0">
                <a:solidFill>
                  <a:srgbClr val="E8EAED"/>
                </a:solidFill>
                <a:latin typeface="Segoe UI"/>
              </a:rPr>
              <a:t>name = folder name, lowercase-hyphen, ≤64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00" b="0">
                <a:solidFill>
                  <a:srgbClr val="E8EAED"/>
                </a:solidFill>
                <a:latin typeface="Segoe UI"/>
              </a:rPr>
              <a:t>  (VS Code silently drops a mismatch)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00" b="0">
                <a:solidFill>
                  <a:srgbClr val="E8EAED"/>
                </a:solidFill>
                <a:latin typeface="Segoe UI"/>
              </a:rPr>
              <a:t>description ≤1024 — drives auto-selection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00" b="0">
                <a:solidFill>
                  <a:srgbClr val="E8EAED"/>
                </a:solidFill>
                <a:latin typeface="Segoe UI"/>
              </a:rPr>
              <a:t>drop trigger: — not a Copilot key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00" b="0">
                <a:solidFill>
                  <a:srgbClr val="E8EAED"/>
                </a:solidFill>
                <a:latin typeface="Segoe UI"/>
              </a:rPr>
              <a:t>Invoke: /name, or automatic by description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434840"/>
            <a:ext cx="10927080" cy="123444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636008"/>
            <a:ext cx="10469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8CC28C"/>
                </a:solidFill>
                <a:latin typeface="Segoe UI"/>
              </a:rPr>
              <a:t>Methodology skills · visible in the live WSL Copilot session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93208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00" b="0">
                <a:solidFill>
                  <a:srgbClr val="E8EAED"/>
                </a:solidFill>
                <a:latin typeface="Segoe UI"/>
              </a:rPr>
              <a:t>day · evidence · preview · atlassian · kg · kg-refresh · methodology-plan · sanitise-diff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00" b="0">
                <a:solidFill>
                  <a:srgbClr val="E8EAED"/>
                </a:solidFill>
                <a:latin typeface="Segoe UI"/>
              </a:rPr>
              <a:t>Personal skill set confirmed in Copilot Customizations; see session 2 for safe behavior checks.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806440"/>
            <a:ext cx="10927080" cy="475488"/>
          </a:xfrm>
          <a:prstGeom prst="rect">
            <a:avLst/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5806440"/>
            <a:ext cx="82296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The strongest reason for a skill is enforcement: a routine you can call leaves a trace.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SESSION 1 · §09 · CUSTOM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Custom agents: .github/agents/*.agent.md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GitHub Copilot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0784"/>
            <a:ext cx="5349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A read-only scout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011680"/>
            <a:ext cx="5349240" cy="2331720"/>
          </a:xfrm>
          <a:prstGeom prst="rect">
            <a:avLst/>
          </a:prstGeom>
          <a:solidFill>
            <a:srgbClr val="0A0E13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194560"/>
            <a:ext cx="48920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9AA4B2"/>
                </a:solidFill>
                <a:latin typeface="Consolas"/>
              </a:rPr>
              <a:t># .github/agents/refactor-scout.agent.md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---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name: refactor-scout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description: Read-only blast-radius scout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tools: ["read", "search"]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user-invocable: true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---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CodeGraph first, then Serena, then grep…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700784"/>
            <a:ext cx="5349240" cy="265176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901952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AA2C7"/>
                </a:solidFill>
                <a:latin typeface="Segoe UI"/>
              </a:rPr>
              <a:t>What to know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359152"/>
            <a:ext cx="48463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00" b="0">
                <a:solidFill>
                  <a:srgbClr val="E8EAED"/>
                </a:solidFill>
                <a:latin typeface="Segoe UI"/>
              </a:rPr>
              <a:t>The tools list IS the enforcement; prose is not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00" b="0">
                <a:solidFill>
                  <a:srgbClr val="E8EAED"/>
                </a:solidFill>
                <a:latin typeface="Segoe UI"/>
              </a:rPr>
              <a:t>As a subagent it gets NO repo instructions unless include-custom-instructions: true (CLI)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00" b="0">
                <a:solidFill>
                  <a:srgbClr val="E8EAED"/>
                </a:solidFill>
                <a:latin typeface="Segoe UI"/>
              </a:rPr>
              <a:t>handoffs[] / agents[]: VS Code Local only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00" b="0">
                <a:solidFill>
                  <a:srgbClr val="E8EAED"/>
                </a:solidFill>
                <a:latin typeface="Segoe UI"/>
              </a:rPr>
              <a:t>CLI: --agent scout, by name, or /fleet … @scout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00" b="0">
                <a:solidFill>
                  <a:srgbClr val="E8EAED"/>
                </a:solidFill>
                <a:latin typeface="Segoe UI"/>
              </a:rPr>
              <a:t>Also read: ~/.copilot/agents, .claude/agents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526280"/>
            <a:ext cx="10927080" cy="109728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727448"/>
            <a:ext cx="10469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Segoe UI"/>
              </a:rPr>
              <a:t>CLI built-in agents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18464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00" b="0">
                <a:solidFill>
                  <a:srgbClr val="E8EAED"/>
                </a:solidFill>
                <a:latin typeface="Segoe UI"/>
              </a:rPr>
              <a:t>explore · task · general-purpose · research · rubber-duck · security-review · code-review (their documented default models disagree with the CLI default table — verify on your build)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806440"/>
            <a:ext cx="10927080" cy="475488"/>
          </a:xfrm>
          <a:prstGeom prst="rect">
            <a:avLst/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5806440"/>
            <a:ext cx="82296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Ready to copy: examples/subagents/ and docs/ai-agents-code-methodology/copilot/agents/.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SESSION 1 · §09 · SUBAGENTS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Subagent, /fleet, or cloud agent?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GitHub Copilot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21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1764792"/>
            <a:ext cx="5705856" cy="2825496"/>
          </a:xfrm>
          <a:prstGeom prst="rect">
            <a:avLst/>
          </a:prstGeom>
          <a:noFill/>
          <a:ln w="12700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g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96562"/>
            <a:ext cx="5669280" cy="2761957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537960" y="1783080"/>
            <a:ext cx="5029200" cy="278892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2280" y="198424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AA2C7"/>
                </a:solidFill>
                <a:latin typeface="Segoe UI"/>
              </a:rPr>
              <a:t>The three options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2441448"/>
            <a:ext cx="452628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00" b="0">
                <a:solidFill>
                  <a:srgbClr val="E8EAED"/>
                </a:solidFill>
                <a:latin typeface="Segoe UI"/>
              </a:rPr>
              <a:t>Subagent (task tool): own context window, summary returns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00" b="0">
                <a:solidFill>
                  <a:srgbClr val="E8EAED"/>
                </a:solidFill>
                <a:latin typeface="Segoe UI"/>
              </a:rPr>
              <a:t>/fleet: parallel subagents executing a plan; background agents can be messaged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00" b="0">
                <a:solidFill>
                  <a:srgbClr val="E8EAED"/>
                </a:solidFill>
                <a:latin typeface="Segoe UI"/>
              </a:rPr>
              <a:t>Cloud agent (/delegate, &amp;): full async session → draft PR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754880"/>
            <a:ext cx="10927080" cy="868680"/>
          </a:xfrm>
          <a:prstGeom prst="rect">
            <a:avLst/>
          </a:prstGeom>
          <a:solidFill>
            <a:srgbClr val="222B38"/>
          </a:solidFill>
          <a:ln w="952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800600"/>
            <a:ext cx="104241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Limits: </a:t>
            </a:r>
            <a:r>
              <a:rPr sz="1150" b="0">
                <a:solidFill>
                  <a:srgbClr val="E8EAED"/>
                </a:solidFill>
                <a:latin typeface="Segoe UI"/>
              </a:rPr>
              <a:t>concurrency by plan (Free 2 · Pro 4 · Max 8 · Business 16 · Enterprise 32). Max depth: the reference table says 6, the env-var table says 4 — a documentation contradiction; verify on your build.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806440"/>
            <a:ext cx="10927080" cy="475488"/>
          </a:xfrm>
          <a:prstGeom prst="rect">
            <a:avLst/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5806440"/>
            <a:ext cx="82296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Subagent so the noise dies outside; cloud agent when the work is long and async.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SESSION 1 · §10 · HOOKS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Hooks: the deterministic veto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GitHub Copilot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22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5349240" cy="297180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84248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Segoe UI"/>
              </a:rPr>
              <a:t>The contract (CLI + cloud agent)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41448"/>
            <a:ext cx="484632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00" b="0">
                <a:solidFill>
                  <a:srgbClr val="E8EAED"/>
                </a:solidFill>
                <a:latin typeface="Segoe UI"/>
              </a:rPr>
              <a:t>.github/hooks/*.json — {version: 1, hooks: {preToolUse: […]}}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00" b="0">
                <a:solidFill>
                  <a:srgbClr val="E8EAED"/>
                </a:solidFill>
                <a:latin typeface="Segoe UI"/>
              </a:rPr>
              <a:t>Also read: ~/.copilot/hooks, .claude/settings.json hooks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00" b="0">
                <a:solidFill>
                  <a:srgbClr val="E8EAED"/>
                </a:solidFill>
                <a:latin typeface="Segoe UI"/>
              </a:rPr>
              <a:t>stdin: {toolName, toolArgs} — toolArgs may be a JSON STRING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00" b="0">
                <a:solidFill>
                  <a:srgbClr val="E8EAED"/>
                </a:solidFill>
                <a:latin typeface="Segoe UI"/>
              </a:rPr>
              <a:t>Deny: permissionDecision "deny" + reason, or exit 2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00" b="0">
                <a:solidFill>
                  <a:srgbClr val="E8EAED"/>
                </a:solidFill>
                <a:latin typeface="Segoe UI"/>
              </a:rPr>
              <a:t>Crash / other non-zero → fail-CLOSED (preToolUse)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00" b="0">
                <a:solidFill>
                  <a:srgbClr val="E8EAED"/>
                </a:solidFill>
                <a:latin typeface="Segoe UI"/>
              </a:rPr>
              <a:t>TIMEOUT → fail-OPEN, every event. Keep it fast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700784"/>
            <a:ext cx="5349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.github/hooks/block-external-git.json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011680"/>
            <a:ext cx="5349240" cy="2743200"/>
          </a:xfrm>
          <a:prstGeom prst="rect">
            <a:avLst/>
          </a:prstGeom>
          <a:solidFill>
            <a:srgbClr val="0A0E13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2194560"/>
            <a:ext cx="4892040" cy="2423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{ "version": 1, "hooks": { "preToolUse": [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  { "type": "command",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    "matcher": "bash|powershell",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    "bash": "./.github/hooks/block-external-git.sh",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    "powershell": "./.github/hooks/…ps1",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    "timeoutSec": 10 } ] } 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37760"/>
            <a:ext cx="10927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VS Code Local harness: </a:t>
            </a:r>
            <a:r>
              <a:rPr sz="1150" b="0">
                <a:solidFill>
                  <a:srgbClr val="9AA4B2"/>
                </a:solidFill>
                <a:latin typeface="Segoe UI"/>
              </a:rPr>
              <a:t>different schema — PascalCase events, {tool_name, tool_input}, hookSpecificOutput. Code review hooks: NOT DOCUMENTED.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806440"/>
            <a:ext cx="10927080" cy="475488"/>
          </a:xfrm>
          <a:prstGeom prst="rect">
            <a:avLst/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5806440"/>
            <a:ext cx="82296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Instructions ask; a hook guarantees — as long as it answers before the timeout.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SESSION 1 · §10 · HOOKS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The portable recipe: block push, PR, merge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GitHub Copilot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23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5335524" cy="105156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1248" y="2029968"/>
            <a:ext cx="4572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2048256"/>
            <a:ext cx="457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1975104"/>
            <a:ext cx="43754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One script, both payload shapes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286000"/>
            <a:ext cx="43754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toolArgs.command (parse if string) or tool_input.command; filter on tool name too.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1636" y="1828800"/>
            <a:ext cx="5335524" cy="105156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32804" y="2029968"/>
            <a:ext cx="4572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2804" y="2048256"/>
            <a:ext cx="457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4596" y="1975104"/>
            <a:ext cx="43754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Match the outward commands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4596" y="2286000"/>
            <a:ext cx="43754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git push · gh pr create|merge|ready · gh api …/merge · release · terraform/kubectl/helm.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127248"/>
            <a:ext cx="5335524" cy="105156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1248" y="3328416"/>
            <a:ext cx="4572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3346704"/>
            <a:ext cx="457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273552"/>
            <a:ext cx="43754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Answer twice, exit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584448"/>
            <a:ext cx="43754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permissionDecision deny + hookSpecificOutput — exit 2 is the signal both schemas document.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31636" y="3127248"/>
            <a:ext cx="5335524" cy="105156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32804" y="3328416"/>
            <a:ext cx="4572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32804" y="3346704"/>
            <a:ext cx="457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54596" y="3273552"/>
            <a:ext cx="43754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Never answer “allow”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4596" y="3584448"/>
            <a:ext cx="43754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No-op = {} — an allow could auto-approve and skip the normal prompt.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425696"/>
            <a:ext cx="5335524" cy="105156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41248" y="4626864"/>
            <a:ext cx="4572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" y="4645152"/>
            <a:ext cx="457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3040" y="4572000"/>
            <a:ext cx="43754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Belt and braces in the CLI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4882896"/>
            <a:ext cx="43754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--deny-tool='shell(git push)' --deny-tool='shell(gh pr)' (deny beats --yolo).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31636" y="4425696"/>
            <a:ext cx="5335524" cy="105156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32804" y="4626864"/>
            <a:ext cx="4572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32804" y="4645152"/>
            <a:ext cx="457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54596" y="4572000"/>
            <a:ext cx="43754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Test it — with a canary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54596" y="4882896"/>
            <a:ext cx="43754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bash .github/hooks/test-block-external-git.sh: a known-deny case first.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5806440"/>
            <a:ext cx="10927080" cy="475488"/>
          </a:xfrm>
          <a:prstGeom prst="rect">
            <a:avLst/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0080" y="5806440"/>
            <a:ext cx="82296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/pr automerge is a first-party slash command — whether it passes preToolUse is UNVERIFIED. Test it.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SESSION 1 · §11 ·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From copilot -p to agents in the cloud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GitHub Copilot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24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5362956" cy="86868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1248" y="2029968"/>
            <a:ext cx="4572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2048256"/>
            <a:ext cx="457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1975104"/>
            <a:ext cx="44028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copilot -p in Actions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286000"/>
            <a:ext cx="44028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npm i -g @github/copilot · copilot-requests: write · --trust-folder · minimal --allow-tool.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04204" y="1828800"/>
            <a:ext cx="5362956" cy="86868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5372" y="2029968"/>
            <a:ext cx="4572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5372" y="2048256"/>
            <a:ext cx="457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27164" y="1975104"/>
            <a:ext cx="44028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Agentic Workflows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27164" y="2286000"/>
            <a:ext cx="44028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github/gh-aw — GitHub's recommended path over raw copilot steps (guardrails).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2898648"/>
            <a:ext cx="5362956" cy="86868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1248" y="3099816"/>
            <a:ext cx="4572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3118104"/>
            <a:ext cx="457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044952"/>
            <a:ext cx="44028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Cloud agent API + Automations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355848"/>
            <a:ext cx="44028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POST /agents/repos/{o}/{r}/tasks (preview, user tokens) · schedule/event Automations.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04204" y="2898648"/>
            <a:ext cx="5362956" cy="86868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5372" y="3099816"/>
            <a:ext cx="4572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5372" y="3118104"/>
            <a:ext cx="457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27164" y="3044952"/>
            <a:ext cx="44028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Code review via rulesets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27164" y="3355848"/>
            <a:ext cx="44028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“Automatically request Copilot code review”; reads instructions from the HEAD branch.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005072"/>
            <a:ext cx="10927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Copilot SDK — @github/copilot-sdk · github-copilot-sdk (pip) · Go · .NET · Java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315968"/>
            <a:ext cx="10927080" cy="1280160"/>
          </a:xfrm>
          <a:prstGeom prst="rect">
            <a:avLst/>
          </a:prstGeom>
          <a:solidFill>
            <a:srgbClr val="0A0E13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4498848"/>
            <a:ext cx="104698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const client = new CopilotClient();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const session = await client.createSession({ model: "auto" });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const reply = await session.sendAndWait({ prompt: "Review the diff" });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9AA4B2"/>
                </a:solidFill>
                <a:latin typeface="Consolas"/>
              </a:rPr>
              <a:t>// programmatic hooks: onPreToolUse returns permissionDecision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5806440"/>
            <a:ext cx="10927080" cy="475488"/>
          </a:xfrm>
          <a:prstGeom prst="rect">
            <a:avLst/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" y="5806440"/>
            <a:ext cx="82296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In CI, write the allow-list on the command line — the trust prompt will never appear.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Segoe UI"/>
              </a:rPr>
              <a:t>SESSION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E8EAED"/>
                </a:solidFill>
                <a:latin typeface="Segoe UI"/>
              </a:rPr>
              <a:t>The methodology + ticket graph</a:t>
            </a:r>
          </a:p>
        </p:txBody>
      </p:sp>
      <p:sp>
        <p:nvSpPr>
          <p:cNvPr id="7" name="Rectangle 6"/>
          <p:cNvSpPr/>
          <p:nvPr/>
        </p:nvSpPr>
        <p:spPr>
          <a:xfrm>
            <a:off x="932688" y="2606040"/>
            <a:ext cx="1280160" cy="457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8892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9AA4B2"/>
                </a:solidFill>
                <a:latin typeface="Segoe UI"/>
              </a:rPr>
              <a:t>One practical session: workflow, tools, transfer, operations, and graph-backed project memory.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520440"/>
            <a:ext cx="5212080" cy="47548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566160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ED"/>
                </a:solidFill>
                <a:latin typeface="Segoe UI"/>
              </a:rPr>
              <a:t>§12 · The 11-stage flow + five-check gate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3520440"/>
            <a:ext cx="5212080" cy="47548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3566160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ED"/>
                </a:solidFill>
                <a:latin typeface="Segoe UI"/>
              </a:rPr>
              <a:t>§13 · The method's tools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087368"/>
            <a:ext cx="5212080" cy="47548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4133088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ED"/>
                </a:solidFill>
                <a:latin typeface="Segoe UI"/>
              </a:rPr>
              <a:t>§14 · Transfer: from Claude Code to Copilot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4087368"/>
            <a:ext cx="5212080" cy="47548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4133088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ED"/>
                </a:solidFill>
                <a:latin typeface="Segoe UI"/>
              </a:rPr>
              <a:t>§15 · Ops: machine-sync + shared record (S3)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654296"/>
            <a:ext cx="5212080" cy="47548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4700016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ED"/>
                </a:solidFill>
                <a:latin typeface="Segoe UI"/>
              </a:rPr>
              <a:t>§16 · Ticket graph: graphify, kg / kg-refresh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SESSION 2 · §12 · THE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The real 11-stage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GitHub Copilot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26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1764792"/>
            <a:ext cx="3054096" cy="3877056"/>
          </a:xfrm>
          <a:prstGeom prst="rect">
            <a:avLst/>
          </a:prstGeom>
          <a:noFill/>
          <a:ln w="12700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736" y="1783080"/>
            <a:ext cx="2960208" cy="384048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886200" y="1783080"/>
            <a:ext cx="7680960" cy="310896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931920" y="1819656"/>
            <a:ext cx="384048" cy="237744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31920" y="1819656"/>
            <a:ext cx="3840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E8EAED"/>
                </a:solidFill>
                <a:latin typeface="Segoe U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1801368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AED"/>
                </a:solidFill>
                <a:latin typeface="Segoe UI"/>
              </a:rPr>
              <a:t>Orient: kg skill + history-first + status-first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86200" y="2135124"/>
            <a:ext cx="7680960" cy="310896"/>
          </a:xfrm>
          <a:prstGeom prst="rect">
            <a:avLst/>
          </a:prstGeom>
          <a:solidFill>
            <a:srgbClr val="1A212B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931920" y="2171700"/>
            <a:ext cx="384048" cy="23774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31920" y="2171700"/>
            <a:ext cx="3840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0F141A"/>
                </a:solidFill>
                <a:latin typeface="Segoe U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153412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AED"/>
                </a:solidFill>
                <a:latin typeface="Segoe UI"/>
              </a:rPr>
              <a:t>Inbound triage: is the symptom in the contract?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86200" y="2487168"/>
            <a:ext cx="7680960" cy="310896"/>
          </a:xfrm>
          <a:prstGeom prst="rect">
            <a:avLst/>
          </a:prstGeom>
          <a:solidFill>
            <a:srgbClr val="1A212B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931920" y="2523744"/>
            <a:ext cx="384048" cy="23774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31920" y="2523744"/>
            <a:ext cx="3840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0F141A"/>
                </a:solidFill>
                <a:latin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2505456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AED"/>
                </a:solidFill>
                <a:latin typeface="Segoe UI"/>
              </a:rPr>
              <a:t>Regression vs pre-existing (prove it)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86200" y="2839212"/>
            <a:ext cx="7680960" cy="310896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931920" y="2875788"/>
            <a:ext cx="384048" cy="237744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31920" y="2875788"/>
            <a:ext cx="3840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E8EAED"/>
                </a:solidFill>
                <a:latin typeface="Segoe U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2857500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AED"/>
                </a:solidFill>
                <a:latin typeface="Segoe UI"/>
              </a:rPr>
              <a:t>Investigate: cheap deterministic oracle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86200" y="3191256"/>
            <a:ext cx="7680960" cy="310896"/>
          </a:xfrm>
          <a:prstGeom prst="rect">
            <a:avLst/>
          </a:prstGeom>
          <a:solidFill>
            <a:srgbClr val="1A212B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931920" y="3227832"/>
            <a:ext cx="384048" cy="23774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31920" y="3227832"/>
            <a:ext cx="3840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0F141A"/>
                </a:solidFill>
                <a:latin typeface="Segoe U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3209544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AED"/>
                </a:solidFill>
                <a:latin typeface="Segoe UI"/>
              </a:rPr>
              <a:t>/plan → explicit human agreement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86200" y="3543300"/>
            <a:ext cx="7680960" cy="310896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931920" y="3579876"/>
            <a:ext cx="384048" cy="237744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31920" y="3579876"/>
            <a:ext cx="3840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E8EAED"/>
                </a:solidFill>
                <a:latin typeface="Segoe U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0" y="3561588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AED"/>
                </a:solidFill>
                <a:latin typeface="Segoe UI"/>
              </a:rPr>
              <a:t>Implement: TDD RED → GREEN, minimal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86200" y="3895344"/>
            <a:ext cx="7680960" cy="310896"/>
          </a:xfrm>
          <a:prstGeom prst="rect">
            <a:avLst/>
          </a:prstGeom>
          <a:solidFill>
            <a:srgbClr val="1A212B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931920" y="3931920"/>
            <a:ext cx="384048" cy="23774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931920" y="3931920"/>
            <a:ext cx="3840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0F141A"/>
                </a:solidFill>
                <a:latin typeface="Segoe UI"/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3913632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AED"/>
                </a:solidFill>
                <a:latin typeface="Segoe UI"/>
              </a:rPr>
              <a:t>Verify: outbound gate × 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886200" y="4247388"/>
            <a:ext cx="7680960" cy="310896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931920" y="4283964"/>
            <a:ext cx="384048" cy="237744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931920" y="4283964"/>
            <a:ext cx="3840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E8EAED"/>
                </a:solidFill>
                <a:latin typeface="Segoe UI"/>
              </a:rPr>
              <a:t>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80560" y="4265676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AED"/>
                </a:solidFill>
                <a:latin typeface="Segoe UI"/>
              </a:rPr>
              <a:t>Document — each fact once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886200" y="4599432"/>
            <a:ext cx="7680960" cy="310896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931920" y="4636008"/>
            <a:ext cx="384048" cy="237744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931920" y="4636008"/>
            <a:ext cx="3840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E8EAED"/>
                </a:solidFill>
                <a:latin typeface="Segoe UI"/>
              </a:rPr>
              <a:t>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80560" y="4617720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AED"/>
                </a:solidFill>
                <a:latin typeface="Segoe UI"/>
              </a:rPr>
              <a:t>Sanitise — added lines (sanitise-diff skill)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886200" y="4951476"/>
            <a:ext cx="7680960" cy="310896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931920" y="4988052"/>
            <a:ext cx="384048" cy="237744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931920" y="4988052"/>
            <a:ext cx="3840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E8EAED"/>
                </a:solidFill>
                <a:latin typeface="Segoe UI"/>
              </a:rPr>
              <a:t>10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80560" y="4969764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AED"/>
                </a:solidFill>
                <a:latin typeface="Segoe UI"/>
              </a:rPr>
              <a:t>Handoff: the human pushes / opens the PR (hook-enforced)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886200" y="5303520"/>
            <a:ext cx="7680960" cy="310896"/>
          </a:xfrm>
          <a:prstGeom prst="rect">
            <a:avLst/>
          </a:prstGeom>
          <a:solidFill>
            <a:srgbClr val="1A212B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931920" y="5340096"/>
            <a:ext cx="384048" cy="23774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931920" y="5340096"/>
            <a:ext cx="3840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0F141A"/>
                </a:solidFill>
                <a:latin typeface="Segoe UI"/>
              </a:rPr>
              <a:t>11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480560" y="5321808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AED"/>
                </a:solidFill>
                <a:latin typeface="Segoe UI"/>
              </a:rPr>
              <a:t>Bot review + persist lessons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0080" y="5806440"/>
            <a:ext cx="10927080" cy="475488"/>
          </a:xfrm>
          <a:prstGeom prst="rect">
            <a:avLst/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40080" y="5806440"/>
            <a:ext cx="82296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Autonomy is earned decision by decision. Coral = gate: a red gate means STOP, no code.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SESSION 2 · §12 · THE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The outbound gate is FIVE checks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GitHub Copilot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27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10927080" cy="43891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828800"/>
            <a:ext cx="73152" cy="43891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865376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0 · Instrument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1865376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AED"/>
                </a:solidFill>
                <a:latin typeface="Segoe UI"/>
              </a:rPr>
              <a:t>Run every _diag_/_sweep_ against a KNOWN-ANSWER case first; record 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377440"/>
            <a:ext cx="10927080" cy="43891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377440"/>
            <a:ext cx="73152" cy="43891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414016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1 · Real stage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414016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AED"/>
                </a:solidFill>
                <a:latin typeface="Segoe UI"/>
              </a:rPr>
              <a:t>Reproduce through the wrapper that builds the contract, not an inner function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926080"/>
            <a:ext cx="10927080" cy="43891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2926080"/>
            <a:ext cx="73152" cy="43891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2962656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2 · Member list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2962656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AED"/>
                </a:solidFill>
                <a:latin typeface="Segoe UI"/>
              </a:rPr>
              <a:t>Assert ids/titles, never a total — two errors can cancel exactly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474720"/>
            <a:ext cx="10927080" cy="43891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3474720"/>
            <a:ext cx="73152" cy="43891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511296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3 · Deployed image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3511296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AED"/>
                </a:solidFill>
                <a:latin typeface="Segoe UI"/>
              </a:rPr>
              <a:t>Re-run inside the runtime image: green tests ≠ what ships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023360"/>
            <a:ext cx="10927080" cy="43891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4023360"/>
            <a:ext cx="73152" cy="43891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059936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4 · Look at 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4059936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AED"/>
                </a:solidFill>
                <a:latin typeface="Segoe UI"/>
              </a:rPr>
              <a:t>Open the rendered output by eye; before/after artifacts for geometry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709160"/>
            <a:ext cx="10927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Five ways a green gate proves nothing: </a:t>
            </a:r>
            <a:r>
              <a:rPr sz="1150" b="0">
                <a:solidFill>
                  <a:srgbClr val="9AA4B2"/>
                </a:solidFill>
                <a:latin typeface="Segoe UI"/>
              </a:rPr>
              <a:t>a broken instrument · a total that matches · a gate that couldn't fail · a canary that never applied the real perturbation · a structural check read as a semantic one.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5806440"/>
            <a:ext cx="10927080" cy="475488"/>
          </a:xfrm>
          <a:prstGeom prst="rect">
            <a:avLst/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" y="5806440"/>
            <a:ext cx="82296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Same gate as in Claude Code and Cursor — only the agent running it changes.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SESSION 2 · §13 · METHOD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Which tool the agent uses, and when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GitHub Copilot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10927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AA4B2"/>
                </a:solidFill>
                <a:latin typeface="Segoe UI"/>
              </a:rPr>
              <a:t>Lives in .github/instructions/01-tool-prevalence.instructions.md: </a:t>
            </a:r>
            <a:r>
              <a:rPr sz="1200" b="1">
                <a:solidFill>
                  <a:srgbClr val="E8EAED"/>
                </a:solidFill>
                <a:latin typeface="Segoe UI"/>
              </a:rPr>
              <a:t>cheap → expensive, deterministic → probabilistic.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240280"/>
            <a:ext cx="10927080" cy="45720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28600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Orient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28600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kg skill (ticket graph) · STATUS.md · git · gh (read)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0" y="228600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AA4B2"/>
                </a:solidFill>
                <a:latin typeface="Segoe UI"/>
              </a:rPr>
              <a:t>no inference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752344"/>
            <a:ext cx="10927080" cy="45720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798064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Navigate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2798064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CodeGraph codegraph_explore (MCP) — source + paths + blast radius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49840" y="2798064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AA4B2"/>
                </a:solidFill>
                <a:latin typeface="Segoe UI"/>
              </a:rPr>
              <a:t>1 call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264408"/>
            <a:ext cx="10927080" cy="45720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310128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Refactor-check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80" y="3310128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Serena find_referencing_symbols (MCP) — MANDATORY before rename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49840" y="3310128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AA4B2"/>
                </a:solidFill>
                <a:latin typeface="Segoe UI"/>
              </a:rPr>
              <a:t>precise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776472"/>
            <a:ext cx="10927080" cy="45720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822192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Diagnose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1880" y="3822192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Deterministic oracle: parser / validator / _diag_*.py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9840" y="3822192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AA4B2"/>
                </a:solidFill>
                <a:latin typeface="Segoe UI"/>
              </a:rPr>
              <a:t>no inference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288536"/>
            <a:ext cx="10927080" cy="45720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334256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Environment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11880" y="4334256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Cloud CLI, read-only: logs, function config, queues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49840" y="4334256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AA4B2"/>
                </a:solidFill>
                <a:latin typeface="Segoe UI"/>
              </a:rPr>
              <a:t>read-only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800600"/>
            <a:ext cx="10927080" cy="45720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484632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Contract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11880" y="48463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Playwright (built into the CLI) against the consumer's endpoint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49840" y="484632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AA4B2"/>
                </a:solidFill>
                <a:latin typeface="Segoe UI"/>
              </a:rPr>
              <a:t>reproduce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5312664"/>
            <a:ext cx="10927080" cy="457200"/>
          </a:xfrm>
          <a:prstGeom prst="rect">
            <a:avLst/>
          </a:prstGeom>
          <a:solidFill>
            <a:srgbClr val="222B38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5358384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Only at the end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11880" y="5358384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The agent's turn — to VERIFY the fix, not to diagnose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49840" y="5358384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AA4B2"/>
                </a:solidFill>
                <a:latin typeface="Segoe UI"/>
              </a:rPr>
              <a:t>metered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SESSION 2 · §13 · METHOD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CodeGraph + Serena on every Copilot surface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GitHub Copilot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29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3026664" cy="512064"/>
          </a:xfrm>
          <a:prstGeom prst="rect">
            <a:avLst/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801368"/>
            <a:ext cx="28803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7AA2C7"/>
                </a:solidFill>
                <a:latin typeface="Segoe UI"/>
              </a:rPr>
              <a:t>Server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03320" y="1783080"/>
            <a:ext cx="2569464" cy="512064"/>
          </a:xfrm>
          <a:prstGeom prst="rect">
            <a:avLst/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76472" y="1801368"/>
            <a:ext cx="24231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D97757"/>
                </a:solidFill>
                <a:latin typeface="Segoe UI"/>
              </a:rPr>
              <a:t>CLI + Copilot harness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783080"/>
            <a:ext cx="2569464" cy="512064"/>
          </a:xfrm>
          <a:prstGeom prst="rect">
            <a:avLst/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1801368"/>
            <a:ext cx="24231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D97757"/>
                </a:solidFill>
                <a:latin typeface="Segoe UI"/>
              </a:rPr>
              <a:t>VS Code Local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15400" y="1783080"/>
            <a:ext cx="2569464" cy="512064"/>
          </a:xfrm>
          <a:prstGeom prst="rect">
            <a:avLst/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88552" y="1801368"/>
            <a:ext cx="24231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D97757"/>
                </a:solidFill>
                <a:latin typeface="Segoe UI"/>
              </a:rPr>
              <a:t>Cloud agent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331720"/>
            <a:ext cx="3026664" cy="512064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2350008"/>
            <a:ext cx="28803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E8EAED"/>
                </a:solidFill>
                <a:latin typeface="Segoe UI"/>
              </a:rPr>
              <a:t>CodeGraph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03320" y="2331720"/>
            <a:ext cx="2569464" cy="512064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76472" y="2350008"/>
            <a:ext cx="24231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AA4B2"/>
                </a:solidFill>
                <a:latin typeface="Segoe UI"/>
              </a:rPr>
              <a:t>.mcp.json stdio, --path 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2331720"/>
            <a:ext cx="2569464" cy="512064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2512" y="2350008"/>
            <a:ext cx="24231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AA4B2"/>
                </a:solidFill>
                <a:latin typeface="Segoe UI"/>
              </a:rPr>
              <a:t>.vscode/mcp.json ${workspaceFolder}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15400" y="2331720"/>
            <a:ext cx="2569464" cy="512064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88552" y="2350008"/>
            <a:ext cx="24231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AA4B2"/>
                </a:solidFill>
                <a:latin typeface="Segoe UI"/>
              </a:rPr>
              <a:t>repo MCP settings + setup steps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2880360"/>
            <a:ext cx="3026664" cy="512064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2898648"/>
            <a:ext cx="28803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E8EAED"/>
                </a:solidFill>
                <a:latin typeface="Segoe UI"/>
              </a:rPr>
              <a:t>Serena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03320" y="2880360"/>
            <a:ext cx="2569464" cy="512064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76472" y="2898648"/>
            <a:ext cx="24231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AA4B2"/>
                </a:solidFill>
                <a:latin typeface="Segoe UI"/>
              </a:rPr>
              <a:t>uvx … serena start-mcp-server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2880360"/>
            <a:ext cx="2569464" cy="512064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82512" y="2898648"/>
            <a:ext cx="24231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AA4B2"/>
                </a:solidFill>
                <a:latin typeface="Segoe UI"/>
              </a:rPr>
              <a:t>same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915400" y="2880360"/>
            <a:ext cx="2569464" cy="512064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88552" y="2898648"/>
            <a:ext cx="24231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AA4B2"/>
                </a:solidFill>
                <a:latin typeface="Segoe UI"/>
              </a:rPr>
              <a:t>same as CodeGraph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3429000"/>
            <a:ext cx="3026664" cy="512064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3232" y="3447288"/>
            <a:ext cx="28803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E8EAED"/>
                </a:solidFill>
                <a:latin typeface="Segoe UI"/>
              </a:rPr>
              <a:t>Playwright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703320" y="3429000"/>
            <a:ext cx="2569464" cy="512064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76472" y="3447288"/>
            <a:ext cx="24231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AA4B2"/>
                </a:solidFill>
                <a:latin typeface="Segoe UI"/>
              </a:rPr>
              <a:t>BUILT IN — don't add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3429000"/>
            <a:ext cx="2569464" cy="512064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82512" y="3447288"/>
            <a:ext cx="24231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AA4B2"/>
                </a:solidFill>
                <a:latin typeface="Segoe UI"/>
              </a:rPr>
              <a:t>add if needed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915400" y="3429000"/>
            <a:ext cx="2569464" cy="512064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88552" y="3447288"/>
            <a:ext cx="24231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AA4B2"/>
                </a:solidFill>
                <a:latin typeface="Segoe UI"/>
              </a:rPr>
              <a:t>default, localhost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3977640"/>
            <a:ext cx="3026664" cy="512064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3232" y="3995928"/>
            <a:ext cx="28803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E8EAED"/>
                </a:solidFill>
                <a:latin typeface="Segoe UI"/>
              </a:rPr>
              <a:t>Context7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703320" y="3977640"/>
            <a:ext cx="2569464" cy="512064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76472" y="3995928"/>
            <a:ext cx="24231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AA4B2"/>
                </a:solidFill>
                <a:latin typeface="Segoe UI"/>
              </a:rPr>
              <a:t>http, tools ["*"]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09360" y="3977640"/>
            <a:ext cx="2569464" cy="512064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82512" y="3995928"/>
            <a:ext cx="24231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AA4B2"/>
                </a:solidFill>
                <a:latin typeface="Segoe UI"/>
              </a:rPr>
              <a:t>same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15400" y="3977640"/>
            <a:ext cx="2569464" cy="512064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988552" y="3995928"/>
            <a:ext cx="24231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AA4B2"/>
                </a:solidFill>
                <a:latin typeface="Segoe UI"/>
              </a:rPr>
              <a:t>firewall allow mcp.context7.com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4754880"/>
            <a:ext cx="109270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CodeGraph answers “what breaks?”; Serena answers “exactly who calls THIS process()?”  </a:t>
            </a:r>
            <a:r>
              <a:rPr sz="1100" b="0">
                <a:solidFill>
                  <a:srgbClr val="E8EAED"/>
                </a:solidFill>
                <a:latin typeface="Segoe UI"/>
              </a:rPr>
              <a:t>Field test 2026-10-28: Serena worked in VS Code Copilot once registered in ~/.copilot/mcp-config.json (find, references, safe-delete, rename); first call ~1 min, fallback CodeGraph → Pylance → grep.  </a:t>
            </a:r>
            <a:r>
              <a:rPr sz="1100" b="0">
                <a:solidFill>
                  <a:srgbClr val="9AA4B2"/>
                </a:solidFill>
                <a:latin typeface="Segoe UI"/>
              </a:rPr>
              <a:t>Whether --path . resolves against the session cwd is UNVERIFIED — launch from the repo root or pin an absolute path.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" y="5806440"/>
            <a:ext cx="10927080" cy="475488"/>
          </a:xfrm>
          <a:prstGeom prst="rect">
            <a:avLst/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40080" y="5806440"/>
            <a:ext cx="82296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Treat codegraph_explore output as already read; never rename without Serena's check.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SESSION 2 · §13 · METHOD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GSD: Claude Code only — the Copilot substitutes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GitHub Copilot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30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5349240" cy="301752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29968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Segoe UI"/>
              </a:rPr>
              <a:t>What GSD 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87168"/>
            <a:ext cx="484632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Claude Code plugin: phased project management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discuss → plan (gate) → execute → verify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Role subagents: planner, checker, executor, verifier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Versioned state in .planning/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No first-party Copilot equivalent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828800"/>
            <a:ext cx="5349240" cy="301752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029968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AA2C7"/>
                </a:solidFill>
                <a:latin typeface="Segoe UI"/>
              </a:rPr>
              <a:t>Nearest Copilot pieces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487168"/>
            <a:ext cx="484632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00" b="0">
                <a:solidFill>
                  <a:srgbClr val="E8EAED"/>
                </a:solidFill>
                <a:latin typeface="Segoe UI"/>
              </a:rPr>
              <a:t>/plan, --plan, Shift+Tab — enforced at the tool layer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00" b="0">
                <a:solidFill>
                  <a:srgbClr val="E8EAED"/>
                </a:solidFill>
                <a:latin typeface="Segoe UI"/>
              </a:rPr>
              <a:t>--plan --mode autopilot · /fleet for waves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00" b="0">
                <a:solidFill>
                  <a:srgbClr val="E8EAED"/>
                </a:solidFill>
                <a:latin typeface="Segoe UI"/>
              </a:rPr>
              <a:t>Role custom agents (planner/executor/verifier)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00" b="0">
                <a:solidFill>
                  <a:srgbClr val="E8EAED"/>
                </a:solidFill>
                <a:latin typeface="Segoe UI"/>
              </a:rPr>
              <a:t>agentStop decision: block = “verify before stop”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00" b="0">
                <a:solidFill>
                  <a:srgbClr val="E8EAED"/>
                </a:solidFill>
                <a:latin typeface="Segoe UI"/>
              </a:rPr>
              <a:t>Spec Kit (github/spec-kit) — third-party-confirmed only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00" b="0">
                <a:solidFill>
                  <a:srgbClr val="E8EAED"/>
                </a:solidFill>
                <a:latin typeface="Segoe UI"/>
              </a:rPr>
              <a:t>State stays in data/changes/ ledgers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806440"/>
            <a:ext cx="10927080" cy="475488"/>
          </a:xfrm>
          <a:prstGeom prst="rect">
            <a:avLst/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806440"/>
            <a:ext cx="82296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Same method, without the plugin: plan mode + role agents + your own ledgers.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SESSION 2 · §14 · TRANSFER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From Claude Code to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GitHub Copilot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31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5349240" cy="251460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29968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8CC28C"/>
                </a:solidFill>
                <a:latin typeface="Segoe UI"/>
              </a:rPr>
              <a:t>Travels UNCHANGED (the 5 rules)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87168"/>
            <a:ext cx="484632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Plan → agree → implement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Verify on the CONSUMER's contract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Solve the general class, not one input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Durable trail: why, what, how verified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The human owns the external (merge, deploy)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828800"/>
            <a:ext cx="5349240" cy="251460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029968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AA2C7"/>
                </a:solidFill>
                <a:latin typeface="Segoe UI"/>
              </a:rPr>
              <a:t>What changes: the surface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487168"/>
            <a:ext cx="484632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00" b="0">
                <a:solidFill>
                  <a:srgbClr val="E8EAED"/>
                </a:solidFill>
                <a:latin typeface="Segoe UI"/>
              </a:rPr>
              <a:t>CLAUDE.md → AGENTS.md + .instructions.md (CLI reads CLAUDE.md too)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00" b="0">
                <a:solidFill>
                  <a:srgbClr val="E8EAED"/>
                </a:solidFill>
                <a:latin typeface="Segoe UI"/>
              </a:rPr>
              <a:t>~/.claude/skills → .github/skills (CLI gap!)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00" b="0">
                <a:solidFill>
                  <a:srgbClr val="E8EAED"/>
                </a:solidFill>
                <a:latin typeface="Segoe UI"/>
              </a:rPr>
              <a:t>settings.json allow/deny → flags + hooks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00" b="0">
                <a:solidFill>
                  <a:srgbClr val="E8EAED"/>
                </a:solidFill>
                <a:latin typeface="Segoe UI"/>
              </a:rPr>
              <a:t>PreToolUse hooks → .github/hooks preToolUse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00" b="0">
                <a:solidFill>
                  <a:srgbClr val="E8EAED"/>
                </a:solidFill>
                <a:latin typeface="Segoe UI"/>
              </a:rPr>
              <a:t>Agent Teams → /fleet + cloud agent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00" b="0">
                <a:solidFill>
                  <a:srgbClr val="E8EAED"/>
                </a:solidFill>
                <a:latin typeface="Segoe UI"/>
              </a:rPr>
              <a:t>claude -p → copilot -p --trust-folder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526280"/>
            <a:ext cx="10927080" cy="114300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727448"/>
            <a:ext cx="10469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Segoe UI"/>
              </a:rPr>
              <a:t>Starter kit: docs/ai-agents-code-methodology/COPILOT_ADAPTATION.md + copilot/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184648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00" b="0">
                <a:solidFill>
                  <a:srgbClr val="E8EAED"/>
                </a:solidFill>
                <a:latin typeface="Segoe UI"/>
              </a:rPr>
              <a:t>AGENTS.md, copilot-instructions, instructions/, skills (day, atlassian, evidence, preview, kg…), hook, read-only agent, .mcp.json, copilot-setup-steps — ready to copy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806440"/>
            <a:ext cx="10927080" cy="475488"/>
          </a:xfrm>
          <a:prstGeom prst="rect">
            <a:avLst/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5806440"/>
            <a:ext cx="82296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Third agent, same discipline: the methodology was never the tool.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SESSION 2 · §14 · TRANSFER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New holes — and how merge stays human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GitHub Copilot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32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10512"/>
            <a:ext cx="10927080" cy="53035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810512"/>
            <a:ext cx="73152" cy="5303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856232"/>
            <a:ext cx="42062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CLI /pr create | auto | automerge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1856232"/>
            <a:ext cx="62179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First-party commands that can merge; hook coverage UNVERIFIED → instructions + test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414016"/>
            <a:ext cx="10927080" cy="53035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414016"/>
            <a:ext cx="73152" cy="5303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459736"/>
            <a:ext cx="42062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Code review can APPROVE (preview)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2459736"/>
            <a:ext cx="62179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Counts toward required approvals; off by default — keep it off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017520"/>
            <a:ext cx="10927080" cy="53035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017520"/>
            <a:ext cx="73152" cy="5303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063240"/>
            <a:ext cx="42062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Review reads the HEAD branch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3063240"/>
            <a:ext cx="62179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A PR can rewrite its reviewer's instructions → CODEOWNERS on .github/**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621024"/>
            <a:ext cx="10927080" cy="53035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3621024"/>
            <a:ext cx="73152" cy="530352"/>
          </a:xfrm>
          <a:prstGeom prst="rect">
            <a:avLst/>
          </a:prstGeom>
          <a:solidFill>
            <a:srgbClr val="8CC2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666744"/>
            <a:ext cx="42062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preToolUse deny hook + --deny-tool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3666744"/>
            <a:ext cx="62179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Vetoes push/PR/merge by content; deny beats --yolo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224528"/>
            <a:ext cx="10927080" cy="53035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4224528"/>
            <a:ext cx="73152" cy="530352"/>
          </a:xfrm>
          <a:prstGeom prst="rect">
            <a:avLst/>
          </a:prstGeom>
          <a:solidFill>
            <a:srgbClr val="8CC2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270248"/>
            <a:ext cx="42062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Cloud agent structural limits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80" y="4270248"/>
            <a:ext cx="62179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copilot/ branch only; cannot approve, mark ready or merge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828032"/>
            <a:ext cx="10927080" cy="53035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" y="4828032"/>
            <a:ext cx="73152" cy="530352"/>
          </a:xfrm>
          <a:prstGeom prst="rect">
            <a:avLst/>
          </a:prstGeom>
          <a:solidFill>
            <a:srgbClr val="8CC2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4873752"/>
            <a:ext cx="42062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disableBypassPermissionsMode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80" y="4873752"/>
            <a:ext cx="62179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Managed/user setting that blocks --yolo / allow-all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5806440"/>
            <a:ext cx="10927080" cy="475488"/>
          </a:xfrm>
          <a:prstGeom prst="rect">
            <a:avLst/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0080" y="5806440"/>
            <a:ext cx="82296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In 2025 “no merge by the agent” was a policy. In 2026 it is a hook, a flag and a branch rule.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SESSION 2 · §15 · 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From transporting (tarball) to sharing (S3)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GitHub Copilot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33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5349240" cy="233172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29968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AA2C7"/>
                </a:solidFill>
                <a:latin typeface="Segoe UI"/>
              </a:rPr>
              <a:t>A · Bring-up: tarball + USB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87168"/>
            <a:ext cx="484632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00" b="0">
                <a:solidFill>
                  <a:srgbClr val="E8EAED"/>
                </a:solidFill>
                <a:latin typeface="Segoe UI"/>
              </a:rPr>
              <a:t>Outbound = full copy; inbound = data/ delta only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00" b="0">
                <a:solidFill>
                  <a:srgbClr val="E8EAED"/>
                </a:solidFill>
                <a:latin typeface="Segoe UI"/>
              </a:rPr>
              <a:t>Carry ~/.copilot deliberately: skills, agents, mcp-config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00" b="0">
                <a:solidFill>
                  <a:srgbClr val="E8EAED"/>
                </a:solidFill>
                <a:latin typeface="Segoe UI"/>
              </a:rPr>
              <a:t>On the target: bootstrap + target-setup.sh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00" b="0">
                <a:solidFill>
                  <a:srgbClr val="E8EAED"/>
                </a:solidFill>
                <a:latin typeface="Segoe UI"/>
              </a:rPr>
              <a:t>Re-pin the CodeGraph --path in .mcp.json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828800"/>
            <a:ext cx="5349240" cy="233172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029968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8CC28C"/>
                </a:solidFill>
                <a:latin typeface="Segoe UI"/>
              </a:rPr>
              <a:t>B · Day to day: S3-backed record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487168"/>
            <a:ext cx="484632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00" b="0">
                <a:solidFill>
                  <a:srgbClr val="E8EAED"/>
                </a:solidFill>
                <a:latin typeface="Segoe UI"/>
              </a:rPr>
              <a:t>Scope grows in reviewed phases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00" b="0">
                <a:solidFill>
                  <a:srgbClr val="E8EAED"/>
                </a:solidFill>
                <a:latin typeface="Segoe UI"/>
              </a:rPr>
              <a:t>Write via sync; read via READ-ONLY mount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00" b="0">
                <a:solidFill>
                  <a:srgbClr val="E8EAED"/>
                </a:solidFill>
                <a:latin typeface="Segoe UI"/>
              </a:rPr>
              <a:t>Dry-run by default; guard BOTH directions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00" b="0">
                <a:solidFill>
                  <a:srgbClr val="E8EAED"/>
                </a:solidFill>
                <a:latin typeface="Segoe UI"/>
              </a:rPr>
              <a:t>ONE publisher; “derived” is per file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251960"/>
            <a:ext cx="10927080" cy="146304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453128"/>
            <a:ext cx="10469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Segoe UI"/>
              </a:rPr>
              <a:t>Agent-specific: the machine has a role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910328"/>
            <a:ext cx="104241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00" b="0">
                <a:solidFill>
                  <a:srgbClr val="E8EAED"/>
                </a:solidFill>
                <a:latin typeface="Segoe UI"/>
              </a:rPr>
              <a:t>IDENTITY.md (gitignored) declares publisher | contributor; AGENTS.md points to it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00" b="0">
                <a:solidFill>
                  <a:srgbClr val="E8EAED"/>
                </a:solidFill>
                <a:latin typeface="Segoe UI"/>
              </a:rPr>
              <a:t>day skill = start/end routine; optional sessionStart prompt hook runs /day start (CLI)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00" b="0">
                <a:solidFill>
                  <a:srgbClr val="E8EAED"/>
                </a:solidFill>
                <a:latin typeface="Segoe UI"/>
              </a:rPr>
              <a:t>Field test: day start caught a stale sync target before any pull; the day end preview caught 2 files a contributor must not publish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806440"/>
            <a:ext cx="10927080" cy="475488"/>
          </a:xfrm>
          <a:prstGeom prst="rect">
            <a:avLst/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5806440"/>
            <a:ext cx="82296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A rule in a runbook decays silently; a routine you call leaves a trace.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Segoe UI"/>
              </a:rPr>
              <a:t>SESSION 2 · CONTINUED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E8EAED"/>
                </a:solidFill>
                <a:latin typeface="Segoe UI"/>
              </a:rPr>
              <a:t>The ticket knowledge graph</a:t>
            </a:r>
          </a:p>
        </p:txBody>
      </p:sp>
      <p:sp>
        <p:nvSpPr>
          <p:cNvPr id="7" name="Rectangle 6"/>
          <p:cNvSpPr/>
          <p:nvPr/>
        </p:nvSpPr>
        <p:spPr>
          <a:xfrm>
            <a:off x="932688" y="2606040"/>
            <a:ext cx="1280160" cy="457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8892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9AA4B2"/>
                </a:solidFill>
                <a:latin typeface="Segoe UI"/>
              </a:rPr>
              <a:t>The graph is the case study inside this session—not a separate session.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520440"/>
            <a:ext cx="5212080" cy="47548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566160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ED"/>
                </a:solidFill>
                <a:latin typeface="Segoe UI"/>
              </a:rPr>
              <a:t>§16a · Problem and pipeline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3520440"/>
            <a:ext cx="5212080" cy="47548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3566160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ED"/>
                </a:solidFill>
                <a:latin typeface="Segoe UI"/>
              </a:rPr>
              <a:t>§16b · The real graph, visualized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087368"/>
            <a:ext cx="5212080" cy="47548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4133088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ED"/>
                </a:solidFill>
                <a:latin typeface="Segoe UI"/>
              </a:rPr>
              <a:t>§16c · Usage under Copilot (kg / kg-refresh)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4087368"/>
            <a:ext cx="5212080" cy="47548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4133088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ED"/>
                </a:solidFill>
                <a:latin typeface="Segoe UI"/>
              </a:rPr>
              <a:t>Appendix · Equivalences and sources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SESSION 2 · §16A · TICKET 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The problem, and the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GitHub Copilot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35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5349240" cy="224028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29968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Segoe UI"/>
              </a:rPr>
              <a:t>The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87168"/>
            <a:ext cx="484632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00" b="0">
                <a:solidFill>
                  <a:srgbClr val="E8EAED"/>
                </a:solidFill>
                <a:latin typeface="Segoe UI"/>
              </a:rPr>
              <a:t>Hundreds of writeups, sharp edges, runbooks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00" b="0">
                <a:solidFill>
                  <a:srgbClr val="E8EAED"/>
                </a:solidFill>
                <a:latin typeface="Segoe UI"/>
              </a:rPr>
              <a:t>A “new” bug almost always has prior context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00" b="0">
                <a:solidFill>
                  <a:srgbClr val="E8EAED"/>
                </a:solidFill>
                <a:latin typeface="Segoe UI"/>
              </a:rPr>
              <a:t>Finding it by hand = remembering + grep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00" b="0">
                <a:solidFill>
                  <a:srgbClr val="E8EAED"/>
                </a:solidFill>
                <a:latin typeface="Segoe UI"/>
              </a:rPr>
              <a:t>The graph makes it explicit, in 1 call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746504"/>
            <a:ext cx="5349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Build (kg-refresh skill)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057400"/>
            <a:ext cx="5349240" cy="2011680"/>
          </a:xfrm>
          <a:prstGeom prst="rect">
            <a:avLst/>
          </a:prstGeom>
          <a:solidFill>
            <a:srgbClr val="0A0E13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2240280"/>
            <a:ext cx="489204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kg_refresh.sh prepare   # manifest → stage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                        # → scratch OUTSIDE repo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9AA4B2"/>
                </a:solidFill>
                <a:latin typeface="Consolas"/>
              </a:rPr>
              <a:t># semantic extraction: the agent step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9AA4B2"/>
                </a:solidFill>
                <a:latin typeface="Consolas"/>
              </a:rPr>
              <a:t>#   (CLI subagents: task / /fleet)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kg_refresh.sh finalize  # output/ + leak-check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251960"/>
            <a:ext cx="10927080" cy="132588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370832"/>
            <a:ext cx="104241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8CC28C"/>
                </a:solidFill>
                <a:latin typeface="Segoe UI"/>
              </a:rPr>
              <a:t>graphify, not CodeGraph:  </a:t>
            </a:r>
            <a:r>
              <a:rPr sz="1150" b="0">
                <a:solidFill>
                  <a:srgbClr val="E8EAED"/>
                </a:solidFill>
                <a:latin typeface="Segoe UI"/>
              </a:rPr>
              <a:t>same role (a queryable graph before touching anything), different domain — tickets, not code.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The gotcha:  </a:t>
            </a:r>
            <a:r>
              <a:rPr sz="1150" b="0">
                <a:solidFill>
                  <a:srgbClr val="E8EAED"/>
                </a:solidFill>
                <a:latin typeface="Segoe UI"/>
              </a:rPr>
              <a:t>graphify honors .gitignore and data/ is ignored → stage the corpus outside the repo, copy artifacts back. The bookends are deterministic and tested.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806440"/>
            <a:ext cx="10927080" cy="475488"/>
          </a:xfrm>
          <a:prstGeom prst="rect">
            <a:avLst/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5806440"/>
            <a:ext cx="82296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Every staged file keeps its provenance in its name — every node traces to a source.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SESSION 2 · §16B · TICKET 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The current graph: 3,921 nodes, 178 communities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GitHub Copilot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36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1764792"/>
            <a:ext cx="8083296" cy="4562856"/>
          </a:xfrm>
          <a:prstGeom prst="rect">
            <a:avLst/>
          </a:prstGeom>
          <a:noFill/>
          <a:ln w="12700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kg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83080"/>
            <a:ext cx="8046720" cy="452628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8869680" y="1783080"/>
            <a:ext cx="2697480" cy="310896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1984248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8CC28C"/>
                </a:solidFill>
                <a:latin typeface="Segoe UI"/>
              </a:rPr>
              <a:t>The real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2441448"/>
            <a:ext cx="219456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00" b="0">
                <a:solidFill>
                  <a:srgbClr val="E8EAED"/>
                </a:solidFill>
                <a:latin typeface="Segoe UI"/>
              </a:rPr>
              <a:t>3,921 nodes · 8,508 links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00" b="0">
                <a:solidFill>
                  <a:srgbClr val="E8EAED"/>
                </a:solidFill>
                <a:latin typeface="Segoe UI"/>
              </a:rPr>
              <a:t>178 communities · 73 hyperedges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00" b="0">
                <a:solidFill>
                  <a:srgbClr val="E8EAED"/>
                </a:solidFill>
                <a:latin typeface="Segoe UI"/>
              </a:rPr>
              <a:t>94.3% EXTRACTED links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00" b="0">
                <a:solidFill>
                  <a:srgbClr val="E8EAED"/>
                </a:solidFill>
                <a:latin typeface="Segoe UI"/>
              </a:rPr>
              <a:t>5.6% INFERRED · &lt;0.1% AMBIGUOUS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00" b="0">
                <a:solidFill>
                  <a:srgbClr val="E8EAED"/>
                </a:solidFill>
                <a:latin typeface="Segoe UI"/>
              </a:rPr>
              <a:t>310 source files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5029200"/>
            <a:ext cx="2697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Privacy-safe visual.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AA4B2"/>
                </a:solidFill>
                <a:latin typeface="Segoe UI"/>
              </a:rPr>
              <a:t>The current graph contains internal labels; only its unlabeled topology is shown.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SESSION 2 · §16C · TICKET 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Using it from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GitHub Copilot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37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46504"/>
            <a:ext cx="5806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Query: ZERO LLM (reads graph.json)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057400"/>
            <a:ext cx="5806440" cy="1737360"/>
          </a:xfrm>
          <a:prstGeom prst="rect">
            <a:avLst/>
          </a:prstGeom>
          <a:solidFill>
            <a:srgbClr val="0A0E13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40280"/>
            <a:ext cx="534924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kg_query.sh explain &lt;ticket|topic&gt;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kg_query.sh path &lt;A&gt; &lt;B&gt;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kg_query.sh find &lt;substr&gt;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9AA4B2"/>
                </a:solidFill>
                <a:latin typeface="Consolas"/>
              </a:rPr>
              <a:t># or just: /kg explain &lt;topic&gt;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20840" y="1755648"/>
            <a:ext cx="4846320" cy="205740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95160" y="1956816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Segoe UI"/>
              </a:rPr>
              <a:t>Where it hooks 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2414016"/>
            <a:ext cx="4343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00" b="0">
                <a:solidFill>
                  <a:srgbClr val="E8EAED"/>
                </a:solidFill>
                <a:latin typeface="Segoe UI"/>
              </a:rPr>
              <a:t>Stage 1 (Orient) of the flow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00" b="0">
                <a:solidFill>
                  <a:srgbClr val="E8EAED"/>
                </a:solidFill>
                <a:latin typeface="Segoe UI"/>
              </a:rPr>
              <a:t>00-methodology-core.instructions.md: kg BEFORE grep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00" b="0">
                <a:solidFill>
                  <a:srgbClr val="E8EAED"/>
                </a:solidFill>
                <a:latin typeface="Segoe UI"/>
              </a:rPr>
              <a:t>Points to WHAT to read; doesn't replace reading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977640"/>
            <a:ext cx="10927080" cy="164592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178808"/>
            <a:ext cx="10469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AA2C7"/>
                </a:solidFill>
                <a:latin typeface="Segoe UI"/>
              </a:rPr>
              <a:t>kg / kg-refresh under Copilot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636008"/>
            <a:ext cx="10424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00" b="0">
                <a:solidFill>
                  <a:srgbClr val="E8EAED"/>
                </a:solidFill>
                <a:latin typeface="Segoe UI"/>
              </a:rPr>
              <a:t>Skills in .github/skills/ (repo) or ~/.copilot/skills/ — the CLI won't find ~/.claude/skills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00" b="0">
                <a:solidFill>
                  <a:srgbClr val="E8EAED"/>
                </a:solidFill>
                <a:latin typeface="Segoe UI"/>
              </a:rPr>
              <a:t>kg-refresh semantic step: CLI subagents (task, /fleet) — or keep running it from Claude Code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00" b="0">
                <a:solidFill>
                  <a:srgbClr val="E8EAED"/>
                </a:solidFill>
                <a:latin typeface="Segoe UI"/>
              </a:rPr>
              <a:t>Publisher-only guard lives in the script, not in the prompt · not for the cloud agent (no corpus)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806440"/>
            <a:ext cx="10927080" cy="475488"/>
          </a:xfrm>
          <a:prstGeom prst="rect">
            <a:avLst/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5806440"/>
            <a:ext cx="82296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One semantic step at build time, zero LLM at query time.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SESSION 2 · FIELD TEST · 2026-10-28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A real workday on Copilot: what actually ran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GitHub Copilot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38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5349240" cy="329184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84248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8CC28C"/>
                </a:solidFill>
                <a:latin typeface="Segoe UI"/>
              </a:rPr>
              <a:t>Passed live, within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41448"/>
            <a:ext cx="484632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00" b="0">
                <a:solidFill>
                  <a:srgbClr val="E8EAED"/>
                </a:solidFill>
                <a:latin typeface="Segoe UI"/>
              </a:rPr>
              <a:t>day start: stale sync target caught before any pull; snapshot pull, no --delete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00" b="0">
                <a:solidFill>
                  <a:srgbClr val="E8EAED"/>
                </a:solidFill>
                <a:latin typeface="Segoe UI"/>
              </a:rPr>
              <a:t>evidence: 2 dev runs fetched read-only; source hashes matched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00" b="0">
                <a:solidFill>
                  <a:srgbClr val="E8EAED"/>
                </a:solidFill>
                <a:latin typeface="Segoe UI"/>
              </a:rPr>
              <a:t>viewer: captured outputs rendered locally; no re-extraction, no model calls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00" b="0">
                <a:solidFill>
                  <a:srgbClr val="E8EAED"/>
                </a:solidFill>
                <a:latin typeface="Segoe UI"/>
              </a:rPr>
              <a:t>atlassian: 62 mocked tests + 3 approved read-only live GETs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00" b="0">
                <a:solidFill>
                  <a:srgbClr val="E8EAED"/>
                </a:solidFill>
                <a:latin typeface="Segoe UI"/>
              </a:rPr>
              <a:t>kg find (22 matches) · CodeGraph one-symbol bounded lookup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00" b="0">
                <a:solidFill>
                  <a:srgbClr val="E8EAED"/>
                </a:solidFill>
                <a:latin typeface="Segoe UI"/>
              </a:rPr>
              <a:t>Serena: live once registered in ~/.copilot/mcp-config.json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783080"/>
            <a:ext cx="5349240" cy="329184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984248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Segoe UI"/>
              </a:rPr>
              <a:t>Minimal, gated, or not exercised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441448"/>
            <a:ext cx="484632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00" b="0">
                <a:solidFill>
                  <a:srgbClr val="E8EAED"/>
                </a:solidFill>
                <a:latin typeface="Segoe UI"/>
              </a:rPr>
              <a:t>day end: dry-run preview + read-only ledger only; nothing uploaded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00" b="0">
                <a:solidFill>
                  <a:srgbClr val="E8EAED"/>
                </a:solidFill>
                <a:latin typeface="Segoe UI"/>
              </a:rPr>
              <a:t>kg-refresh: out of scope by decision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00" b="0">
                <a:solidFill>
                  <a:srgbClr val="E8EAED"/>
                </a:solidFill>
                <a:latin typeface="Segoe UI"/>
              </a:rPr>
              <a:t>Context7: connected per the user; no tool exposed in the session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00" b="0">
                <a:solidFill>
                  <a:srgbClr val="E8EAED"/>
                </a:solidFill>
                <a:latin typeface="Segoe UI"/>
              </a:rPr>
              <a:t>methodology-plan: gates replayed; full template agreement not done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00" b="0">
                <a:solidFill>
                  <a:srgbClr val="E8EAED"/>
                </a:solidFill>
                <a:latin typeface="Segoe UI"/>
              </a:rPr>
              <a:t>GitHub remote ops: no non-interactive credentials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00" b="0">
                <a:solidFill>
                  <a:srgbClr val="E8EAED"/>
                </a:solidFill>
                <a:latin typeface="Segoe UI"/>
              </a:rPr>
              <a:t>Skill discovery is not proof every operation is safe to run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212080"/>
            <a:ext cx="10927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Source: </a:t>
            </a:r>
            <a:r>
              <a:rPr sz="1100" b="0">
                <a:solidFill>
                  <a:srgbClr val="9AA4B2"/>
                </a:solidFill>
                <a:latin typeface="Segoe UI"/>
              </a:rPr>
              <a:t>docs/ai-agents-code-methodology/field-reports/. Evidence folders hold customer documents: show synthetic or redacted screens only.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806440"/>
            <a:ext cx="10927080" cy="475488"/>
          </a:xfrm>
          <a:prstGeom prst="rect">
            <a:avLst/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5806440"/>
            <a:ext cx="82296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A bounded validation: the checks that passed and their limits, shown together.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SESSION 2 · FIELD TEST · 2026-10-28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Replaying one past ticket through the gates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GitHub Copilot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39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10927080" cy="43891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83080"/>
            <a:ext cx="73152" cy="43891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819656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Setup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1819656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AED"/>
                </a:solidFill>
                <a:latin typeface="Segoe UI"/>
              </a:rPr>
              <a:t>Backup clone, branch cut at the pre-fix commit; nothing committed or pushed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286000"/>
            <a:ext cx="10927080" cy="43891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286000"/>
            <a:ext cx="73152" cy="43891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322576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Root cause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322576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AED"/>
                </a:solidFill>
                <a:latin typeface="Segoe UI"/>
              </a:rPr>
              <a:t>Same as the earlier agents: a 13-word title fails the length check, and a typed “59.” stops the underline collector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788920"/>
            <a:ext cx="10927080" cy="43891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2788920"/>
            <a:ext cx="73152" cy="43891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2825496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2825496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AED"/>
                </a:solidFill>
                <a:latin typeface="Segoe UI"/>
              </a:rPr>
              <a:t>14 new tests: 5 fail as intended, 9 guards stay green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291840"/>
            <a:ext cx="10927080" cy="43891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3291840"/>
            <a:ext cx="73152" cy="43891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328416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GREEN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3328416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AED"/>
                </a:solidFill>
                <a:latin typeface="Segoe UI"/>
              </a:rPr>
              <a:t>~18 lines + 2 regexes in one function; 31 targeted tests pass; corpus diff = the ticket's recorded counts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794760"/>
            <a:ext cx="10927080" cy="43891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3794760"/>
            <a:ext cx="73152" cy="43891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3831336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Deployed image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3831336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AED"/>
                </a:solidFill>
                <a:latin typeface="Segoe UI"/>
              </a:rPr>
              <a:t>Real LLM re-extract in the deployed image: 94 provisions, all 6 checks pass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297680"/>
            <a:ext cx="10927080" cy="43891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" y="4297680"/>
            <a:ext cx="73152" cy="43891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4334256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Sanitise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4334256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AED"/>
                </a:solidFill>
                <a:latin typeface="Segoe UI"/>
              </a:rPr>
              <a:t>Real diff: 0 names, secrets or attribution; 1 internal ticket id in a docstring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4800600"/>
            <a:ext cx="10927080" cy="43891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0080" y="4800600"/>
            <a:ext cx="73152" cy="43891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4837176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Full suite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0" y="4837176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AED"/>
                </a:solidFill>
                <a:latin typeface="Segoe UI"/>
              </a:rPr>
              <a:t>1552 → 1566 passed (+14 new); same 3 failures; 5 files not collected (host venv)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5349240"/>
            <a:ext cx="10927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Not a blind test: </a:t>
            </a:r>
            <a:r>
              <a:rPr sz="1100" b="0">
                <a:solidFill>
                  <a:srgbClr val="9AA4B2"/>
                </a:solidFill>
                <a:latin typeface="Segoe UI"/>
              </a:rPr>
              <a:t>the fix plan had been read earlier. Still owed: a re-upload on the deployed function after a merge. Fix archived as a diff, then reverted.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5806440"/>
            <a:ext cx="10927080" cy="475488"/>
          </a:xfrm>
          <a:prstGeom prst="rect">
            <a:avLst/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0080" y="5806440"/>
            <a:ext cx="82296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Same root cause, same counts, same gates — and everything reverted.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SESSION 2 · FIELD TEST · 2026-10-28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What the field test taught, and what is still open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GitHub Copilot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40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5349240" cy="384048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84248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AA2C7"/>
                </a:solidFill>
                <a:latin typeface="Segoe UI"/>
              </a:rPr>
              <a:t>Practical findings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41448"/>
            <a:ext cx="484632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Serena: the first call takes ~1 min (LSP warm-up); retry it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Serena edits land on disk just after the tool returns: re-check git diff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Cold imports from /mnt/d take ~5 min: set long timeouts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The extractor rewrites the DOCX it opens: always work on copies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Local runs need dummy SQS_* values (no network used)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day end preview listed 2 knowledge-graph/_corpus files: exclude them; never --delete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783080"/>
            <a:ext cx="5349240" cy="384048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984248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Segoe UI"/>
              </a:rPr>
              <a:t>Still open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441448"/>
            <a:ext cx="484632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A blind run on an unseen ticket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The deployed-function re-upload check (needs a merge)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Full methodology-plan template agreement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kg-refresh and a real day end publish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A Context7 lookup inside Copilot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5 test files not collected in the host venv (broker 0.1.3 vs v0.1.5)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806440"/>
            <a:ext cx="10927080" cy="475488"/>
          </a:xfrm>
          <a:prstGeom prst="rect">
            <a:avLst/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806440"/>
            <a:ext cx="82296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Verified means exactly what we ran; gated means not yet proven.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Claude Code → Cursor →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GitHub Copilot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41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737360"/>
            <a:ext cx="2249424" cy="365760"/>
          </a:xfrm>
          <a:prstGeom prst="rect">
            <a:avLst/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755648"/>
            <a:ext cx="21031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7AA2C7"/>
                </a:solidFill>
                <a:latin typeface="Segoe UI"/>
              </a:rPr>
              <a:t>Concept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26080" y="1737360"/>
            <a:ext cx="2843784" cy="365760"/>
          </a:xfrm>
          <a:prstGeom prst="rect">
            <a:avLst/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99232" y="1755648"/>
            <a:ext cx="26974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D97757"/>
                </a:solidFill>
                <a:latin typeface="Segoe UI"/>
              </a:rPr>
              <a:t>Claude Code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06440" y="1737360"/>
            <a:ext cx="2843784" cy="365760"/>
          </a:xfrm>
          <a:prstGeom prst="rect">
            <a:avLst/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79592" y="1755648"/>
            <a:ext cx="26974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D97757"/>
                </a:solidFill>
                <a:latin typeface="Segoe UI"/>
              </a:rPr>
              <a:t>Cursor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737360"/>
            <a:ext cx="2843784" cy="365760"/>
          </a:xfrm>
          <a:prstGeom prst="rect">
            <a:avLst/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59952" y="1755648"/>
            <a:ext cx="26974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D97757"/>
                </a:solidFill>
                <a:latin typeface="Segoe UI"/>
              </a:rPr>
              <a:t>GitHub Copilot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139696"/>
            <a:ext cx="2249424" cy="36576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2157984"/>
            <a:ext cx="21031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E8EAED"/>
                </a:solidFill>
                <a:latin typeface="Segoe UI"/>
              </a:rPr>
              <a:t>Headless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26080" y="2139696"/>
            <a:ext cx="2843784" cy="36576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99232" y="2157984"/>
            <a:ext cx="26974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AA4B2"/>
                </a:solidFill>
                <a:latin typeface="Segoe UI"/>
              </a:rPr>
              <a:t>claude -p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06440" y="2139696"/>
            <a:ext cx="2843784" cy="36576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79592" y="2157984"/>
            <a:ext cx="26974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AA4B2"/>
                </a:solidFill>
                <a:latin typeface="Segoe UI"/>
              </a:rPr>
              <a:t>agent -p --trust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0" y="2139696"/>
            <a:ext cx="2843784" cy="36576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59952" y="2157984"/>
            <a:ext cx="26974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AA4B2"/>
                </a:solidFill>
                <a:latin typeface="Segoe UI"/>
              </a:rPr>
              <a:t>copilot -p --trust-folder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2542032"/>
            <a:ext cx="2249424" cy="36576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2560320"/>
            <a:ext cx="21031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E8EAED"/>
                </a:solidFill>
                <a:latin typeface="Segoe UI"/>
              </a:rPr>
              <a:t>Always-on memory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26080" y="2542032"/>
            <a:ext cx="2843784" cy="36576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99232" y="2560320"/>
            <a:ext cx="26974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AA4B2"/>
                </a:solidFill>
                <a:latin typeface="Segoe UI"/>
              </a:rPr>
              <a:t>CLAUDE.md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06440" y="2542032"/>
            <a:ext cx="2843784" cy="36576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79592" y="2560320"/>
            <a:ext cx="26974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AA4B2"/>
                </a:solidFill>
                <a:latin typeface="Segoe UI"/>
              </a:rPr>
              <a:t>AGENTS.md + rules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86800" y="2542032"/>
            <a:ext cx="2843784" cy="36576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59952" y="2560320"/>
            <a:ext cx="26974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AA4B2"/>
                </a:solidFill>
                <a:latin typeface="Segoe UI"/>
              </a:rPr>
              <a:t>AGENTS.md + instructions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2944368"/>
            <a:ext cx="2249424" cy="36576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3232" y="2962656"/>
            <a:ext cx="21031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E8EAED"/>
                </a:solidFill>
                <a:latin typeface="Segoe UI"/>
              </a:rPr>
              <a:t>Scoped rules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926080" y="2944368"/>
            <a:ext cx="2843784" cy="36576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999232" y="2962656"/>
            <a:ext cx="26974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AA4B2"/>
                </a:solidFill>
                <a:latin typeface="Segoe UI"/>
              </a:rPr>
              <a:t>.claude/rules paths: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806440" y="2944368"/>
            <a:ext cx="2843784" cy="36576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879592" y="2962656"/>
            <a:ext cx="26974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AA4B2"/>
                </a:solidFill>
                <a:latin typeface="Segoe UI"/>
              </a:rPr>
              <a:t>.mdc globs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686800" y="2944368"/>
            <a:ext cx="2843784" cy="36576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59952" y="2962656"/>
            <a:ext cx="26974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AA4B2"/>
                </a:solidFill>
                <a:latin typeface="Segoe UI"/>
              </a:rPr>
              <a:t>.instructions.md applyTo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3346704"/>
            <a:ext cx="2249424" cy="36576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3232" y="3364992"/>
            <a:ext cx="21031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E8EAED"/>
                </a:solidFill>
                <a:latin typeface="Segoe UI"/>
              </a:rPr>
              <a:t>Skills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926080" y="3346704"/>
            <a:ext cx="2843784" cy="36576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999232" y="3364992"/>
            <a:ext cx="26974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AA4B2"/>
                </a:solidFill>
                <a:latin typeface="Segoe UI"/>
              </a:rPr>
              <a:t>~/.claude/skills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806440" y="3346704"/>
            <a:ext cx="2843784" cy="36576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879592" y="3364992"/>
            <a:ext cx="26974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AA4B2"/>
                </a:solidFill>
                <a:latin typeface="Segoe UI"/>
              </a:rPr>
              <a:t>.cursor/skills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686800" y="3346704"/>
            <a:ext cx="2843784" cy="36576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759952" y="3364992"/>
            <a:ext cx="26974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AA4B2"/>
                </a:solidFill>
                <a:latin typeface="Segoe UI"/>
              </a:rPr>
              <a:t>.github/skills · ~/.copilot/skills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080" y="3749040"/>
            <a:ext cx="2249424" cy="36576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13232" y="3767328"/>
            <a:ext cx="21031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E8EAED"/>
                </a:solidFill>
                <a:latin typeface="Segoe UI"/>
              </a:rPr>
              <a:t>Subagents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926080" y="3749040"/>
            <a:ext cx="2843784" cy="36576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999232" y="3767328"/>
            <a:ext cx="26974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AA4B2"/>
                </a:solidFill>
                <a:latin typeface="Segoe UI"/>
              </a:rPr>
              <a:t>.claude/agents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806440" y="3749040"/>
            <a:ext cx="2843784" cy="36576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879592" y="3767328"/>
            <a:ext cx="26974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AA4B2"/>
                </a:solidFill>
                <a:latin typeface="Segoe UI"/>
              </a:rPr>
              <a:t>.cursor/agents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686800" y="3749040"/>
            <a:ext cx="2843784" cy="36576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759952" y="3767328"/>
            <a:ext cx="26974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AA4B2"/>
                </a:solidFill>
                <a:latin typeface="Segoe UI"/>
              </a:rPr>
              <a:t>.github/agents/*.agent.md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0080" y="4151376"/>
            <a:ext cx="2249424" cy="36576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13232" y="4169664"/>
            <a:ext cx="21031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E8EAED"/>
                </a:solidFill>
                <a:latin typeface="Segoe UI"/>
              </a:rPr>
              <a:t>Parallel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926080" y="4151376"/>
            <a:ext cx="2843784" cy="36576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999232" y="4169664"/>
            <a:ext cx="26974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AA4B2"/>
                </a:solidFill>
                <a:latin typeface="Segoe UI"/>
              </a:rPr>
              <a:t>Agent Teams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806440" y="4151376"/>
            <a:ext cx="2843784" cy="36576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879592" y="4169664"/>
            <a:ext cx="26974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AA4B2"/>
                </a:solidFill>
                <a:latin typeface="Segoe UI"/>
              </a:rPr>
              <a:t>Cloud Agents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686800" y="4151376"/>
            <a:ext cx="2843784" cy="36576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759952" y="4169664"/>
            <a:ext cx="26974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AA4B2"/>
                </a:solidFill>
                <a:latin typeface="Segoe UI"/>
              </a:rPr>
              <a:t>/fleet · cloud agent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0080" y="4553712"/>
            <a:ext cx="2249424" cy="36576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13232" y="4572000"/>
            <a:ext cx="21031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E8EAED"/>
                </a:solidFill>
                <a:latin typeface="Segoe UI"/>
              </a:rPr>
              <a:t>Hooks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926080" y="4553712"/>
            <a:ext cx="2843784" cy="36576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999232" y="4572000"/>
            <a:ext cx="26974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AA4B2"/>
                </a:solidFill>
                <a:latin typeface="Segoe UI"/>
              </a:rPr>
              <a:t>settings.json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806440" y="4553712"/>
            <a:ext cx="2843784" cy="36576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879592" y="4572000"/>
            <a:ext cx="26974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AA4B2"/>
                </a:solidFill>
                <a:latin typeface="Segoe UI"/>
              </a:rPr>
              <a:t>.cursor/hooks.json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686800" y="4553712"/>
            <a:ext cx="2843784" cy="36576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759952" y="4572000"/>
            <a:ext cx="26974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AA4B2"/>
                </a:solidFill>
                <a:latin typeface="Segoe UI"/>
              </a:rPr>
              <a:t>.github/hooks/*.json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40080" y="4956048"/>
            <a:ext cx="2249424" cy="36576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13232" y="4974336"/>
            <a:ext cx="21031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E8EAED"/>
                </a:solidFill>
                <a:latin typeface="Segoe UI"/>
              </a:rPr>
              <a:t>Block a command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926080" y="4956048"/>
            <a:ext cx="2843784" cy="36576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999232" y="4974336"/>
            <a:ext cx="26974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AA4B2"/>
                </a:solidFill>
                <a:latin typeface="Segoe UI"/>
              </a:rPr>
              <a:t>exit 2 / deny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806440" y="4956048"/>
            <a:ext cx="2843784" cy="36576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879592" y="4974336"/>
            <a:ext cx="26974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AA4B2"/>
                </a:solidFill>
                <a:latin typeface="Segoe UI"/>
              </a:rPr>
              <a:t>permission deny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686800" y="4956048"/>
            <a:ext cx="2843784" cy="36576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759952" y="4974336"/>
            <a:ext cx="26974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AA4B2"/>
                </a:solidFill>
                <a:latin typeface="Segoe UI"/>
              </a:rPr>
              <a:t>permissionDecision deny / exit 2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40080" y="5358384"/>
            <a:ext cx="2249424" cy="36576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13232" y="5376672"/>
            <a:ext cx="21031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E8EAED"/>
                </a:solidFill>
                <a:latin typeface="Segoe UI"/>
              </a:rPr>
              <a:t>MCP config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926080" y="5358384"/>
            <a:ext cx="2843784" cy="36576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999232" y="5376672"/>
            <a:ext cx="26974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AA4B2"/>
                </a:solidFill>
                <a:latin typeface="Segoe UI"/>
              </a:rPr>
              <a:t>.mcp.json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806440" y="5358384"/>
            <a:ext cx="2843784" cy="36576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879592" y="5376672"/>
            <a:ext cx="26974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AA4B2"/>
                </a:solidFill>
                <a:latin typeface="Segoe UI"/>
              </a:rPr>
              <a:t>.cursor/mcp.json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686800" y="5358384"/>
            <a:ext cx="2843784" cy="36576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759952" y="5376672"/>
            <a:ext cx="26974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AA4B2"/>
                </a:solidFill>
                <a:latin typeface="Segoe UI"/>
              </a:rPr>
              <a:t>.mcp.json · .vscode/mcp.json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40080" y="5760720"/>
            <a:ext cx="2249424" cy="36576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13232" y="5779008"/>
            <a:ext cx="21031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E8EAED"/>
                </a:solidFill>
                <a:latin typeface="Segoe UI"/>
              </a:rPr>
              <a:t>PR review bot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926080" y="5760720"/>
            <a:ext cx="2843784" cy="36576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999232" y="5779008"/>
            <a:ext cx="26974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66707E"/>
                </a:solidFill>
                <a:latin typeface="Segoe UI"/>
              </a:rPr>
              <a:t>—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806440" y="5760720"/>
            <a:ext cx="2843784" cy="36576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879592" y="5779008"/>
            <a:ext cx="26974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AA4B2"/>
                </a:solidFill>
                <a:latin typeface="Segoe UI"/>
              </a:rPr>
              <a:t>Bugbot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686800" y="5760720"/>
            <a:ext cx="2843784" cy="36576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759952" y="5779008"/>
            <a:ext cx="26974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AA4B2"/>
                </a:solidFill>
                <a:latin typeface="Segoe UI"/>
              </a:rPr>
              <a:t>Copilot code review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From assistant to system, on any surface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GitHub Copilot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42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5349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SESSION 1 · the tool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148840"/>
            <a:ext cx="5349240" cy="77724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2313432"/>
            <a:ext cx="402336" cy="40233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322576"/>
            <a:ext cx="40233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141A"/>
                </a:solidFill>
                <a:latin typeface="Segoe U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2402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E8EAED"/>
                </a:solidFill>
                <a:latin typeface="Segoe UI"/>
              </a:rPr>
              <a:t>Know the surface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542032"/>
            <a:ext cx="45720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AA4B2"/>
                </a:solidFill>
                <a:latin typeface="Segoe UI"/>
              </a:rPr>
              <a:t>CLI ≠ gh copilot; two VS Code engines; cloud agent; review.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017520"/>
            <a:ext cx="5349240" cy="77724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3182112"/>
            <a:ext cx="402336" cy="40233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191256"/>
            <a:ext cx="40233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141A"/>
                </a:solidFill>
                <a:latin typeface="Segoe U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10896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E8EAED"/>
                </a:solidFill>
                <a:latin typeface="Segoe UI"/>
              </a:rPr>
              <a:t>Instructions + context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410712"/>
            <a:ext cx="45720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AA4B2"/>
                </a:solidFill>
                <a:latin typeface="Segoe UI"/>
              </a:rPr>
              <a:t>AGENTS.md everywhere; lean, stable prefix; no cache knob.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886200"/>
            <a:ext cx="5349240" cy="77724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" y="4050792"/>
            <a:ext cx="402336" cy="40233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059936"/>
            <a:ext cx="40233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141A"/>
                </a:solidFill>
                <a:latin typeface="Segoe U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397764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E8EAED"/>
                </a:solidFill>
                <a:latin typeface="Segoe UI"/>
              </a:rPr>
              <a:t>MCP + skills + agents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279392"/>
            <a:ext cx="45720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AA4B2"/>
                </a:solidFill>
                <a:latin typeface="Segoe UI"/>
              </a:rPr>
              <a:t>mcpServers vs servers; name = folder; tools list = enforcement.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754880"/>
            <a:ext cx="5349240" cy="77724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" y="4919472"/>
            <a:ext cx="402336" cy="40233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928616"/>
            <a:ext cx="40233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141A"/>
                </a:solidFill>
                <a:latin typeface="Segoe U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84632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E8EAED"/>
                </a:solidFill>
                <a:latin typeface="Segoe UI"/>
              </a:rPr>
              <a:t>Hooks + automation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5148072"/>
            <a:ext cx="45720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AA4B2"/>
                </a:solidFill>
                <a:latin typeface="Segoe UI"/>
              </a:rPr>
              <a:t>Deny + exit 2; timeouts fail open; --trust-folder in CI.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1783080"/>
            <a:ext cx="5349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AA2C7"/>
                </a:solidFill>
                <a:latin typeface="Segoe UI"/>
              </a:rPr>
              <a:t>SESSION 2 · the method and the graph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2148840"/>
            <a:ext cx="5349240" cy="77724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0" y="2313432"/>
            <a:ext cx="402336" cy="402336"/>
          </a:xfrm>
          <a:prstGeom prst="rect">
            <a:avLst/>
          </a:prstGeom>
          <a:solidFill>
            <a:srgbClr val="7AA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2322576"/>
            <a:ext cx="40233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141A"/>
                </a:solidFill>
                <a:latin typeface="Segoe U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22402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E8EAED"/>
                </a:solidFill>
                <a:latin typeface="Segoe UI"/>
              </a:rPr>
              <a:t>The 11-stage flow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2542032"/>
            <a:ext cx="45720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AA4B2"/>
                </a:solidFill>
                <a:latin typeface="Segoe UI"/>
              </a:rPr>
              <a:t>Deterministic gates; five-check outbound gate.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3017520"/>
            <a:ext cx="5349240" cy="77724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0" y="3182112"/>
            <a:ext cx="402336" cy="402336"/>
          </a:xfrm>
          <a:prstGeom prst="rect">
            <a:avLst/>
          </a:prstGeom>
          <a:solidFill>
            <a:srgbClr val="7AA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3191256"/>
            <a:ext cx="40233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141A"/>
                </a:solidFill>
                <a:latin typeface="Segoe UI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0" y="310896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E8EAED"/>
                </a:solidFill>
                <a:latin typeface="Segoe UI"/>
              </a:rPr>
              <a:t>The method's tools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0" y="3410712"/>
            <a:ext cx="45720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AA4B2"/>
                </a:solidFill>
                <a:latin typeface="Segoe UI"/>
              </a:rPr>
              <a:t>CodeGraph · Serena · oracles; GSD → plan mode + /fleet.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0" y="3886200"/>
            <a:ext cx="5349240" cy="77724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400800" y="4050792"/>
            <a:ext cx="402336" cy="402336"/>
          </a:xfrm>
          <a:prstGeom prst="rect">
            <a:avLst/>
          </a:prstGeom>
          <a:solidFill>
            <a:srgbClr val="7AA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0" y="4059936"/>
            <a:ext cx="40233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141A"/>
                </a:solidFill>
                <a:latin typeface="Segoe UI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49440" y="397764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E8EAED"/>
                </a:solidFill>
                <a:latin typeface="Segoe UI"/>
              </a:rPr>
              <a:t>Transferable, enforceable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49440" y="4279392"/>
            <a:ext cx="45720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AA4B2"/>
                </a:solidFill>
                <a:latin typeface="Segoe UI"/>
              </a:rPr>
              <a:t>COPILOT_ADAPTATION.md; human-owns-merge via hook.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17920" y="4754880"/>
            <a:ext cx="5349240" cy="77724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00800" y="4919472"/>
            <a:ext cx="402336" cy="402336"/>
          </a:xfrm>
          <a:prstGeom prst="rect">
            <a:avLst/>
          </a:prstGeom>
          <a:solidFill>
            <a:srgbClr val="7AA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0" y="4928616"/>
            <a:ext cx="40233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141A"/>
                </a:solidFill>
                <a:latin typeface="Segoe UI"/>
              </a:rPr>
              <a:t>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49440" y="484632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E8EAED"/>
                </a:solidFill>
                <a:latin typeface="Segoe UI"/>
              </a:rPr>
              <a:t>The ticket graph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49440" y="5148072"/>
            <a:ext cx="45720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AA4B2"/>
                </a:solidFill>
                <a:latin typeface="Segoe UI"/>
              </a:rPr>
              <a:t>graphify: history-first, zero LLM at query time.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" y="57607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6707E"/>
                </a:solidFill>
                <a:latin typeface="Segoe UI"/>
              </a:rPr>
              <a:t>Sources (verified 2026-10-17 — Copilot moves fast, re-check before reuse):  docs.github.com/en/copilot  ·  code.visualstudio.com/docs  ·  github.blog/changelog  ·  github.com/colbymchenry/codegraph  ·  github.com/oraios/serena  ·  field test 2026-10-28: docs/ai-agents-code-methodology/field-reports/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